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e en oplossing" id="{6f5a2ffa-d86a-c659-56ab-1a7049c06bee}">
          <p14:sldIdLst>
            <p14:sldId id="256"/>
            <p14:sldId id="257"/>
            <p14:sldId id="258"/>
            <p14:sldId id="259"/>
            <p14:sldId id="260"/>
          </p14:sldIdLst>
        </p14:section>
        <p14:section name="Verbeteringen" id="{a1308c79-f64e-bc30-3fda-f504804fe0f1}">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 kozen Optie B: een prototype. We bouwden een schoolassistent die een taalmodel koppelt aan je rooster, je deadlines en een persoonlijk geheugen. Dat hoeft niet Claude te zijn: het werkt met eender welke LLM die MCP ondersteunt.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Schoolinfo zit verspreid: het rooster in WebUntis, de deadlines in Digitap. Een gewone AI-assistent weet daar niets van en kent jou niet. Ons idee: het taalmodel die context geven, zodat je gewoon kunt vragen wat je vandaag hebt of wat je nog moet indienen.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hebben het Model Context Protocol zelf geïmplementeerd in plaats van context in een prompt te plakken. De server biedt acht tools aan; het model beslist zelf wanneer het ze gebruikt. Wij testten met Claude, maar omdat MCP een open standaard is, kan elke LLM met MCP-ondersteuning dezelfde server gebruiken. Elke student krijgt een eigen sleutel en dus een eigen geheugen. Het geheugen zit in een SQLite-databank en is per gebruiker gescheiden via een persoonlijke toegangssleutel.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kern van de opdracht: aantonen dat context het gedrag beïnvloedt. Zonder onthouden klas valt het rooster terug op een standaardklas uit de instellingen; met geheugen krijg je het rooster van jouw klas. Ideaal moment voor een korte live demo: laat de assistent je klas onthouden en vraag daarna je rooster.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Suggestie: laat de assistent je klas onthouden, vraag daarna je rooster zonder de klas mee te geven, en markeer een deadline als klaar.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prototype werkt, maar veel is nog vast ingesteld. Klassen staan als vaste lijst in de configuratie, gebruikers krijgen een sleutel die wij aanmaken, en de deadlines komen uit een kalenderlink die vooraf is ingesteld. De volgende stap is alles live en per persoon ophalen: alle klassen uit WebUntis, inloggen via Digitap, en de eigen kalender van de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Reflectie: MCP maakte het haalbaar om context een vast, herbruikbaar onderdeel van de assistent te maken. Wat MCP nog niet oplost, zoals identiteit en inloggen, hebben we zelf ingevuld; dat zijn precies onze verbeterpunten.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40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603504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520440"/>
            <a:ext cx="585216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Context is King  ·  Trends in AI, labo 3</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1440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6035040" cy="1554480"/>
          </a:xfrm>
          <a:prstGeom prst="rect">
            <a:avLst/>
          </a:prstGeom>
          <a:noFill/>
          <a:ln/>
        </p:spPr>
        <p:txBody>
          <a:bodyPr wrap="square" rtlCol="0"/>
          <a:lstStyle>
            <a:lvl1pPr algn="l" indent="0" marL="0">
              <a:buNone/>
              <a:defRPr lang="en-US" sz="9600" b="1" dirty="0">
                <a:solidFill>
                  <a:schemeClr val="bg1"/>
                </a:solidFill>
              </a:defRPr>
            </a:lvl1pPr>
          </a:lstStyle>
          <a:p>
            <a:pPr algn="l" indent="0" marL="0">
              <a:buNone/>
            </a:pPr>
            <a:endParaRPr lang="en-US" sz="9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40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2971800"/>
            <a:ext cx="914400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kst 1"/>
          <p:cNvSpPr txBox="1"/>
          <p:nvPr/>
        </p:nvSpPr>
        <p:spPr>
          <a:xfrm>
            <a:off x="731520" y="1783080"/>
            <a:ext cx="585216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TRENDS IN AI  ·  LABO 3</a:t>
            </a:r>
            <a:endParaRPr lang="en-US" sz="1400" dirty="0"/>
          </a:p>
        </p:txBody>
      </p:sp>
      <p:sp>
        <p:nvSpPr>
          <p:cNvPr id="3" name="Text 0"/>
          <p:cNvSpPr/>
          <p:nvPr>
            <p:ph idx="100" type="title" hasCustomPrompt="1"/>
          </p:nvPr>
        </p:nvSpPr>
        <p:spPr>
          <a:xfrm>
            <a:off x="731520" y="2240280"/>
            <a:ext cx="6035040" cy="1188720"/>
          </a:xfrm>
          <a:prstGeom prst="rect">
            <a:avLst/>
          </a:prstGeom>
          <a:noFill/>
          <a:ln/>
        </p:spPr>
        <p:txBody>
          <a:bodyPr wrap="square" lIns="0" tIns="0" rIns="0" bIns="0" rtlCol="0" anchor="ctr"/>
          <a:lstStyle/>
          <a:p>
            <a:pPr algn="l" indent="0" marL="0">
              <a:buNone/>
            </a:pPr>
            <a:r>
              <a:rPr lang="en-US" sz="6000" b="1" dirty="0">
                <a:solidFill>
                  <a:schemeClr val="bg1"/>
                </a:solidFill>
              </a:rPr>
              <a:t>Context is King</a:t>
            </a:r>
            <a:endParaRPr lang="en-US" sz="6000" dirty="0"/>
          </a:p>
        </p:txBody>
      </p:sp>
      <p:sp>
        <p:nvSpPr>
          <p:cNvPr id="4" name="Text 0"/>
          <p:cNvSpPr/>
          <p:nvPr>
            <p:ph idx="101" type="body" hasCustomPrompt="1"/>
          </p:nvPr>
        </p:nvSpPr>
        <p:spPr>
          <a:xfrm>
            <a:off x="731520" y="3520440"/>
            <a:ext cx="5852160" cy="1005840"/>
          </a:xfrm>
          <a:prstGeom prst="rect">
            <a:avLst/>
          </a:prstGeom>
          <a:noFill/>
          <a:ln/>
        </p:spPr>
        <p:txBody>
          <a:bodyPr wrap="square" lIns="0" tIns="0" rIns="0" bIns="0" rtlCol="0" anchor="t"/>
          <a:lstStyle/>
          <a:p>
            <a:pPr algn="l" indent="0" marL="0">
              <a:buNone/>
            </a:pPr>
            <a:r>
              <a:rPr lang="en-US" sz="2200" dirty="0">
                <a:solidFill>
                  <a:schemeClr val="bg2"/>
                </a:solidFill>
              </a:rPr>
              <a:t>Een persoonlijke schoolassistent, gebouwd als MCP-server</a:t>
            </a:r>
            <a:endParaRPr lang="en-US" sz="2200" dirty="0"/>
          </a:p>
        </p:txBody>
      </p:sp>
      <p:sp>
        <p:nvSpPr>
          <p:cNvPr id="5" name="Tekst 2"/>
          <p:cNvSpPr txBox="1"/>
          <p:nvPr/>
        </p:nvSpPr>
        <p:spPr>
          <a:xfrm>
            <a:off x="731520" y="4754880"/>
            <a:ext cx="5852160" cy="320040"/>
          </a:xfrm>
          <a:prstGeom prst="rect">
            <a:avLst/>
          </a:prstGeom>
          <a:noFill/>
          <a:ln/>
        </p:spPr>
        <p:txBody>
          <a:bodyPr wrap="square" lIns="0" tIns="0" rIns="0" bIns="0" rtlCol="0" anchor="t"/>
          <a:lstStyle/>
          <a:p>
            <a:pPr indent="0" marL="0">
              <a:buNone/>
            </a:pPr>
            <a:r>
              <a:rPr lang="en-US" sz="1400" dirty="0">
                <a:solidFill>
                  <a:schemeClr val="accent2"/>
                </a:solidFill>
              </a:rPr>
              <a:t>Optie B – prototype</a:t>
            </a:r>
            <a:endParaRPr lang="en-US" sz="1400" dirty="0"/>
          </a:p>
        </p:txBody>
      </p:sp>
      <p:sp>
        <p:nvSpPr>
          <p:cNvPr id="6" name="Lijn 3"/>
          <p:cNvSpPr/>
          <p:nvPr/>
        </p:nvSpPr>
        <p:spPr>
          <a:xfrm>
            <a:off x="7543800" y="1600200"/>
            <a:ext cx="1737360" cy="1828800"/>
          </a:xfrm>
          <a:prstGeom prst="line">
            <a:avLst/>
          </a:prstGeom>
          <a:noFill/>
          <a:ln w="19050">
            <a:solidFill>
              <a:schemeClr val="accent2">
                <a:alpha val="60000"/>
              </a:schemeClr>
            </a:solidFill>
            <a:prstDash val="solid"/>
          </a:ln>
        </p:spPr>
      </p:sp>
      <p:sp>
        <p:nvSpPr>
          <p:cNvPr id="7" name="Lijn 4"/>
          <p:cNvSpPr/>
          <p:nvPr/>
        </p:nvSpPr>
        <p:spPr>
          <a:xfrm flipH="1">
            <a:off x="9281160" y="2240280"/>
            <a:ext cx="1691640" cy="1188720"/>
          </a:xfrm>
          <a:prstGeom prst="line">
            <a:avLst/>
          </a:prstGeom>
          <a:noFill/>
          <a:ln w="19050">
            <a:solidFill>
              <a:schemeClr val="accent2">
                <a:alpha val="60000"/>
              </a:schemeClr>
            </a:solidFill>
            <a:prstDash val="solid"/>
          </a:ln>
        </p:spPr>
      </p:sp>
      <p:sp>
        <p:nvSpPr>
          <p:cNvPr id="8" name="Lijn 5"/>
          <p:cNvSpPr/>
          <p:nvPr/>
        </p:nvSpPr>
        <p:spPr>
          <a:xfrm flipH="1">
            <a:off x="8549640" y="3429000"/>
            <a:ext cx="731520" cy="2057400"/>
          </a:xfrm>
          <a:prstGeom prst="line">
            <a:avLst/>
          </a:prstGeom>
          <a:noFill/>
          <a:ln w="19050">
            <a:solidFill>
              <a:schemeClr val="accent2">
                <a:alpha val="60000"/>
              </a:schemeClr>
            </a:solidFill>
            <a:prstDash val="solid"/>
          </a:ln>
        </p:spPr>
      </p:sp>
      <p:sp>
        <p:nvSpPr>
          <p:cNvPr id="9" name="Cirkel 6"/>
          <p:cNvSpPr/>
          <p:nvPr/>
        </p:nvSpPr>
        <p:spPr>
          <a:xfrm>
            <a:off x="7040880" y="1097280"/>
            <a:ext cx="1005840" cy="1005840"/>
          </a:xfrm>
          <a:prstGeom prst="ellipse">
            <a:avLst/>
          </a:prstGeom>
          <a:solidFill>
            <a:schemeClr val="accent2"/>
          </a:solidFill>
          <a:ln/>
        </p:spPr>
      </p:sp>
      <p:pic>
        <p:nvPicPr>
          <p:cNvPr id="10" name="Icoon 7" descr="preencoded.png">    </p:cNvPr>
          <p:cNvPicPr>
            <a:picLocks noChangeAspect="1"/>
          </p:cNvPicPr>
          <p:nvPr/>
        </p:nvPicPr>
        <p:blipFill>
          <a:blip r:embed="rId1"/>
          <a:stretch>
            <a:fillRect/>
          </a:stretch>
        </p:blipFill>
        <p:spPr>
          <a:xfrm>
            <a:off x="7312457" y="1368857"/>
            <a:ext cx="462686" cy="462686"/>
          </a:xfrm>
          <a:prstGeom prst="rect">
            <a:avLst/>
          </a:prstGeom>
        </p:spPr>
      </p:pic>
      <p:sp>
        <p:nvSpPr>
          <p:cNvPr id="11" name="Cirkel 8"/>
          <p:cNvSpPr/>
          <p:nvPr/>
        </p:nvSpPr>
        <p:spPr>
          <a:xfrm>
            <a:off x="10469880" y="1737360"/>
            <a:ext cx="1005840" cy="1005840"/>
          </a:xfrm>
          <a:prstGeom prst="ellipse">
            <a:avLst/>
          </a:prstGeom>
          <a:solidFill>
            <a:schemeClr val="accent2"/>
          </a:solidFill>
          <a:ln/>
        </p:spPr>
      </p:sp>
      <p:pic>
        <p:nvPicPr>
          <p:cNvPr id="12" name="Icoon 9" descr="preencoded.png">    </p:cNvPr>
          <p:cNvPicPr>
            <a:picLocks noChangeAspect="1"/>
          </p:cNvPicPr>
          <p:nvPr/>
        </p:nvPicPr>
        <p:blipFill>
          <a:blip r:embed="rId2"/>
          <a:stretch>
            <a:fillRect/>
          </a:stretch>
        </p:blipFill>
        <p:spPr>
          <a:xfrm>
            <a:off x="10741457" y="2008937"/>
            <a:ext cx="462686" cy="462686"/>
          </a:xfrm>
          <a:prstGeom prst="rect">
            <a:avLst/>
          </a:prstGeom>
        </p:spPr>
      </p:pic>
      <p:sp>
        <p:nvSpPr>
          <p:cNvPr id="13" name="Cirkel 10"/>
          <p:cNvSpPr/>
          <p:nvPr/>
        </p:nvSpPr>
        <p:spPr>
          <a:xfrm>
            <a:off x="8046720" y="4983480"/>
            <a:ext cx="1005840" cy="1005840"/>
          </a:xfrm>
          <a:prstGeom prst="ellipse">
            <a:avLst/>
          </a:prstGeom>
          <a:solidFill>
            <a:schemeClr val="accent2"/>
          </a:solidFill>
          <a:ln/>
        </p:spPr>
      </p:sp>
      <p:pic>
        <p:nvPicPr>
          <p:cNvPr id="14" name="Icoon 11" descr="preencoded.png">    </p:cNvPr>
          <p:cNvPicPr>
            <a:picLocks noChangeAspect="1"/>
          </p:cNvPicPr>
          <p:nvPr/>
        </p:nvPicPr>
        <p:blipFill>
          <a:blip r:embed="rId3"/>
          <a:stretch>
            <a:fillRect/>
          </a:stretch>
        </p:blipFill>
        <p:spPr>
          <a:xfrm>
            <a:off x="8318297" y="5255057"/>
            <a:ext cx="462686" cy="462686"/>
          </a:xfrm>
          <a:prstGeom prst="rect">
            <a:avLst/>
          </a:prstGeom>
        </p:spPr>
      </p:pic>
      <p:sp>
        <p:nvSpPr>
          <p:cNvPr id="15" name="Cirkel 12"/>
          <p:cNvSpPr/>
          <p:nvPr/>
        </p:nvSpPr>
        <p:spPr>
          <a:xfrm>
            <a:off x="8092440" y="2240280"/>
            <a:ext cx="2377440" cy="2377440"/>
          </a:xfrm>
          <a:prstGeom prst="ellipse">
            <a:avLst/>
          </a:prstGeom>
          <a:solidFill>
            <a:schemeClr val="accent1"/>
          </a:solidFill>
          <a:ln/>
        </p:spPr>
      </p:sp>
      <p:pic>
        <p:nvPicPr>
          <p:cNvPr id="16" name="Icoon 13" descr="preencoded.png">    </p:cNvPr>
          <p:cNvPicPr>
            <a:picLocks noChangeAspect="1"/>
          </p:cNvPicPr>
          <p:nvPr/>
        </p:nvPicPr>
        <p:blipFill>
          <a:blip r:embed="rId4"/>
          <a:stretch>
            <a:fillRect/>
          </a:stretch>
        </p:blipFill>
        <p:spPr>
          <a:xfrm>
            <a:off x="8734349" y="2882189"/>
            <a:ext cx="1093622" cy="10936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Het idee: een assistent die jou kent</a:t>
            </a:r>
            <a:endParaRPr lang="en-US" sz="3600" dirty="0"/>
          </a:p>
        </p:txBody>
      </p:sp>
      <p:sp>
        <p:nvSpPr>
          <p:cNvPr id="3" name="Kaart 14"/>
          <p:cNvSpPr/>
          <p:nvPr/>
        </p:nvSpPr>
        <p:spPr>
          <a:xfrm>
            <a:off x="548640" y="1508760"/>
            <a:ext cx="5303520" cy="4297680"/>
          </a:xfrm>
          <a:prstGeom prst="roundRect">
            <a:avLst>
              <a:gd name="adj" fmla="val 2553"/>
            </a:avLst>
          </a:prstGeom>
          <a:solidFill>
            <a:schemeClr val="bg2"/>
          </a:solidFill>
          <a:ln/>
        </p:spPr>
      </p:sp>
      <p:sp>
        <p:nvSpPr>
          <p:cNvPr id="4" name="Tekst 15"/>
          <p:cNvSpPr txBox="1"/>
          <p:nvPr/>
        </p:nvSpPr>
        <p:spPr>
          <a:xfrm>
            <a:off x="868680" y="1783080"/>
            <a:ext cx="4572000" cy="365760"/>
          </a:xfrm>
          <a:prstGeom prst="rect">
            <a:avLst/>
          </a:prstGeom>
          <a:noFill/>
          <a:ln/>
        </p:spPr>
        <p:txBody>
          <a:bodyPr wrap="square" lIns="0" tIns="0" rIns="0" bIns="0" rtlCol="0" anchor="t"/>
          <a:lstStyle/>
          <a:p>
            <a:pPr indent="0" marL="0">
              <a:buNone/>
            </a:pPr>
            <a:r>
              <a:rPr lang="en-US" sz="2000" b="1" dirty="0">
                <a:solidFill>
                  <a:schemeClr val="accent5"/>
                </a:solidFill>
              </a:rPr>
              <a:t>Vandaag</a:t>
            </a:r>
            <a:endParaRPr lang="en-US" sz="2000" dirty="0"/>
          </a:p>
        </p:txBody>
      </p:sp>
      <p:sp>
        <p:nvSpPr>
          <p:cNvPr id="5" name="Cirkel 16"/>
          <p:cNvSpPr/>
          <p:nvPr/>
        </p:nvSpPr>
        <p:spPr>
          <a:xfrm>
            <a:off x="868680" y="2514600"/>
            <a:ext cx="640080" cy="640080"/>
          </a:xfrm>
          <a:prstGeom prst="ellipse">
            <a:avLst/>
          </a:prstGeom>
          <a:solidFill>
            <a:schemeClr val="accent5"/>
          </a:solidFill>
          <a:ln/>
        </p:spPr>
      </p:sp>
      <p:pic>
        <p:nvPicPr>
          <p:cNvPr id="6" name="Icoon 17" descr="preencoded.png">    </p:cNvPr>
          <p:cNvPicPr>
            <a:picLocks noChangeAspect="1"/>
          </p:cNvPicPr>
          <p:nvPr/>
        </p:nvPicPr>
        <p:blipFill>
          <a:blip r:embed="rId1"/>
          <a:stretch>
            <a:fillRect/>
          </a:stretch>
        </p:blipFill>
        <p:spPr>
          <a:xfrm>
            <a:off x="1041502" y="2687422"/>
            <a:ext cx="294437" cy="294437"/>
          </a:xfrm>
          <a:prstGeom prst="rect">
            <a:avLst/>
          </a:prstGeom>
        </p:spPr>
      </p:pic>
      <p:sp>
        <p:nvSpPr>
          <p:cNvPr id="7" name="Tekst 18"/>
          <p:cNvSpPr txBox="1"/>
          <p:nvPr/>
        </p:nvSpPr>
        <p:spPr>
          <a:xfrm>
            <a:off x="1737360" y="2514600"/>
            <a:ext cx="3931920" cy="640080"/>
          </a:xfrm>
          <a:prstGeom prst="rect">
            <a:avLst/>
          </a:prstGeom>
          <a:noFill/>
          <a:ln/>
        </p:spPr>
        <p:txBody>
          <a:bodyPr wrap="square" lIns="0" tIns="0" rIns="0" bIns="0" rtlCol="0" anchor="ctr"/>
          <a:lstStyle/>
          <a:p>
            <a:pPr indent="0" marL="0">
              <a:buNone/>
            </a:pPr>
            <a:r>
              <a:rPr lang="en-US" sz="1800" dirty="0">
                <a:solidFill>
                  <a:schemeClr val="tx1"/>
                </a:solidFill>
              </a:rPr>
              <a:t>Je rooster staat in WebUntis</a:t>
            </a:r>
            <a:endParaRPr lang="en-US" sz="1800" dirty="0"/>
          </a:p>
        </p:txBody>
      </p:sp>
      <p:sp>
        <p:nvSpPr>
          <p:cNvPr id="8" name="Cirkel 19"/>
          <p:cNvSpPr/>
          <p:nvPr/>
        </p:nvSpPr>
        <p:spPr>
          <a:xfrm>
            <a:off x="868680" y="3566160"/>
            <a:ext cx="640080" cy="640080"/>
          </a:xfrm>
          <a:prstGeom prst="ellipse">
            <a:avLst/>
          </a:prstGeom>
          <a:solidFill>
            <a:schemeClr val="accent5"/>
          </a:solidFill>
          <a:ln/>
        </p:spPr>
      </p:sp>
      <p:pic>
        <p:nvPicPr>
          <p:cNvPr id="9" name="Icoon 20" descr="preencoded.png">    </p:cNvPr>
          <p:cNvPicPr>
            <a:picLocks noChangeAspect="1"/>
          </p:cNvPicPr>
          <p:nvPr/>
        </p:nvPicPr>
        <p:blipFill>
          <a:blip r:embed="rId2"/>
          <a:stretch>
            <a:fillRect/>
          </a:stretch>
        </p:blipFill>
        <p:spPr>
          <a:xfrm>
            <a:off x="1041502" y="3738982"/>
            <a:ext cx="294437" cy="294437"/>
          </a:xfrm>
          <a:prstGeom prst="rect">
            <a:avLst/>
          </a:prstGeom>
        </p:spPr>
      </p:pic>
      <p:sp>
        <p:nvSpPr>
          <p:cNvPr id="10" name="Tekst 21"/>
          <p:cNvSpPr txBox="1"/>
          <p:nvPr/>
        </p:nvSpPr>
        <p:spPr>
          <a:xfrm>
            <a:off x="1737360" y="3566160"/>
            <a:ext cx="3931920" cy="640080"/>
          </a:xfrm>
          <a:prstGeom prst="rect">
            <a:avLst/>
          </a:prstGeom>
          <a:noFill/>
          <a:ln/>
        </p:spPr>
        <p:txBody>
          <a:bodyPr wrap="square" lIns="0" tIns="0" rIns="0" bIns="0" rtlCol="0" anchor="ctr"/>
          <a:lstStyle/>
          <a:p>
            <a:pPr indent="0" marL="0">
              <a:buNone/>
            </a:pPr>
            <a:r>
              <a:rPr lang="en-US" sz="1800" dirty="0">
                <a:solidFill>
                  <a:schemeClr val="tx1"/>
                </a:solidFill>
              </a:rPr>
              <a:t>Je deadlines staan in Digitap</a:t>
            </a:r>
            <a:endParaRPr lang="en-US" sz="1800" dirty="0"/>
          </a:p>
        </p:txBody>
      </p:sp>
      <p:sp>
        <p:nvSpPr>
          <p:cNvPr id="11" name="Cirkel 22"/>
          <p:cNvSpPr/>
          <p:nvPr/>
        </p:nvSpPr>
        <p:spPr>
          <a:xfrm>
            <a:off x="868680" y="4617720"/>
            <a:ext cx="640080" cy="640080"/>
          </a:xfrm>
          <a:prstGeom prst="ellipse">
            <a:avLst/>
          </a:prstGeom>
          <a:solidFill>
            <a:schemeClr val="accent5"/>
          </a:solidFill>
          <a:ln/>
        </p:spPr>
      </p:sp>
      <p:pic>
        <p:nvPicPr>
          <p:cNvPr id="12" name="Icoon 23" descr="preencoded.png">    </p:cNvPr>
          <p:cNvPicPr>
            <a:picLocks noChangeAspect="1"/>
          </p:cNvPicPr>
          <p:nvPr/>
        </p:nvPicPr>
        <p:blipFill>
          <a:blip r:embed="rId3"/>
          <a:stretch>
            <a:fillRect/>
          </a:stretch>
        </p:blipFill>
        <p:spPr>
          <a:xfrm>
            <a:off x="1041502" y="4790542"/>
            <a:ext cx="294437" cy="294437"/>
          </a:xfrm>
          <a:prstGeom prst="rect">
            <a:avLst/>
          </a:prstGeom>
        </p:spPr>
      </p:pic>
      <p:sp>
        <p:nvSpPr>
          <p:cNvPr id="13" name="Tekst 24"/>
          <p:cNvSpPr txBox="1"/>
          <p:nvPr/>
        </p:nvSpPr>
        <p:spPr>
          <a:xfrm>
            <a:off x="1737360" y="4617720"/>
            <a:ext cx="3931920" cy="640080"/>
          </a:xfrm>
          <a:prstGeom prst="rect">
            <a:avLst/>
          </a:prstGeom>
          <a:noFill/>
          <a:ln/>
        </p:spPr>
        <p:txBody>
          <a:bodyPr wrap="square" lIns="0" tIns="0" rIns="0" bIns="0" rtlCol="0" anchor="ctr"/>
          <a:lstStyle/>
          <a:p>
            <a:pPr indent="0" marL="0">
              <a:buNone/>
            </a:pPr>
            <a:r>
              <a:rPr lang="en-US" sz="1800" dirty="0">
                <a:solidFill>
                  <a:schemeClr val="tx1"/>
                </a:solidFill>
              </a:rPr>
              <a:t>Een AI-assistent weet niets over jou</a:t>
            </a:r>
            <a:endParaRPr lang="en-US" sz="1800" dirty="0"/>
          </a:p>
        </p:txBody>
      </p:sp>
      <p:sp>
        <p:nvSpPr>
          <p:cNvPr id="14" name="Pijl 25"/>
          <p:cNvSpPr/>
          <p:nvPr/>
        </p:nvSpPr>
        <p:spPr>
          <a:xfrm>
            <a:off x="5888736" y="3474720"/>
            <a:ext cx="384048" cy="365760"/>
          </a:xfrm>
          <a:prstGeom prst="rightArrow">
            <a:avLst/>
          </a:prstGeom>
          <a:solidFill>
            <a:schemeClr val="accent2"/>
          </a:solidFill>
          <a:ln/>
        </p:spPr>
      </p:sp>
      <p:sp>
        <p:nvSpPr>
          <p:cNvPr id="15" name="Kaart 26"/>
          <p:cNvSpPr/>
          <p:nvPr/>
        </p:nvSpPr>
        <p:spPr>
          <a:xfrm>
            <a:off x="6309360" y="1508760"/>
            <a:ext cx="5303520" cy="4297680"/>
          </a:xfrm>
          <a:prstGeom prst="roundRect">
            <a:avLst>
              <a:gd name="adj" fmla="val 2553"/>
            </a:avLst>
          </a:prstGeom>
          <a:solidFill>
            <a:schemeClr val="tx2"/>
          </a:solidFill>
          <a:ln/>
        </p:spPr>
      </p:sp>
      <p:sp>
        <p:nvSpPr>
          <p:cNvPr id="16" name="Tekst 27"/>
          <p:cNvSpPr txBox="1"/>
          <p:nvPr/>
        </p:nvSpPr>
        <p:spPr>
          <a:xfrm>
            <a:off x="6629400" y="1783080"/>
            <a:ext cx="4572000" cy="365760"/>
          </a:xfrm>
          <a:prstGeom prst="rect">
            <a:avLst/>
          </a:prstGeom>
          <a:noFill/>
          <a:ln/>
        </p:spPr>
        <p:txBody>
          <a:bodyPr wrap="square" lIns="0" tIns="0" rIns="0" bIns="0" rtlCol="0" anchor="t"/>
          <a:lstStyle/>
          <a:p>
            <a:pPr indent="0" marL="0">
              <a:buNone/>
            </a:pPr>
            <a:r>
              <a:rPr lang="en-US" sz="2000" b="1" dirty="0">
                <a:solidFill>
                  <a:schemeClr val="accent2"/>
                </a:solidFill>
              </a:rPr>
              <a:t>Ons idee</a:t>
            </a:r>
            <a:endParaRPr lang="en-US" sz="2000" dirty="0"/>
          </a:p>
        </p:txBody>
      </p:sp>
      <p:sp>
        <p:nvSpPr>
          <p:cNvPr id="17" name="Tekst 28"/>
          <p:cNvSpPr txBox="1"/>
          <p:nvPr/>
        </p:nvSpPr>
        <p:spPr>
          <a:xfrm>
            <a:off x="6629400" y="2514600"/>
            <a:ext cx="4663440" cy="1737360"/>
          </a:xfrm>
          <a:prstGeom prst="rect">
            <a:avLst/>
          </a:prstGeom>
          <a:noFill/>
          <a:ln/>
        </p:spPr>
        <p:txBody>
          <a:bodyPr wrap="square" lIns="0" tIns="0" rIns="0" bIns="0" rtlCol="0" anchor="t"/>
          <a:lstStyle/>
          <a:p>
            <a:pPr indent="0" marL="0">
              <a:buNone/>
            </a:pPr>
            <a:r>
              <a:rPr lang="en-US" sz="2600" b="1" dirty="0">
                <a:solidFill>
                  <a:schemeClr val="bg1"/>
                </a:solidFill>
              </a:rPr>
              <a:t>Eén schoolassistent die je rooster en deadlines kent, en onthoudt wie je bent.</a:t>
            </a:r>
            <a:endParaRPr lang="en-US" sz="2600" dirty="0"/>
          </a:p>
        </p:txBody>
      </p:sp>
      <p:sp>
        <p:nvSpPr>
          <p:cNvPr id="18" name="Tekst 29"/>
          <p:cNvSpPr txBox="1"/>
          <p:nvPr/>
        </p:nvSpPr>
        <p:spPr>
          <a:xfrm>
            <a:off x="6629400" y="4526280"/>
            <a:ext cx="4663440" cy="822960"/>
          </a:xfrm>
          <a:prstGeom prst="rect">
            <a:avLst/>
          </a:prstGeom>
          <a:noFill/>
          <a:ln/>
        </p:spPr>
        <p:txBody>
          <a:bodyPr wrap="square" lIns="0" tIns="0" rIns="0" bIns="0" rtlCol="0" anchor="t"/>
          <a:lstStyle/>
          <a:p>
            <a:pPr indent="0" marL="0">
              <a:buNone/>
            </a:pPr>
            <a:r>
              <a:rPr lang="en-US" sz="1600" i="1" dirty="0">
                <a:solidFill>
                  <a:schemeClr val="bg2"/>
                </a:solidFill>
              </a:rPr>
              <a:t>Hoe meer context de assistent heeft, hoe beter het antwoord.</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De oplossing: een eigen MCP-server</a:t>
            </a:r>
            <a:endParaRPr lang="en-US" sz="3600" dirty="0"/>
          </a:p>
        </p:txBody>
      </p:sp>
      <p:sp>
        <p:nvSpPr>
          <p:cNvPr id="3" name="Kaart 30"/>
          <p:cNvSpPr/>
          <p:nvPr/>
        </p:nvSpPr>
        <p:spPr>
          <a:xfrm>
            <a:off x="548640" y="2926080"/>
            <a:ext cx="2377440" cy="1554480"/>
          </a:xfrm>
          <a:prstGeom prst="roundRect">
            <a:avLst>
              <a:gd name="adj" fmla="val 7059"/>
            </a:avLst>
          </a:prstGeom>
          <a:solidFill>
            <a:schemeClr val="tx2"/>
          </a:solidFill>
          <a:ln/>
        </p:spPr>
      </p:sp>
      <p:pic>
        <p:nvPicPr>
          <p:cNvPr id="4" name="Icoon 31" descr="preencoded.png">    </p:cNvPr>
          <p:cNvPicPr>
            <a:picLocks noChangeAspect="1"/>
          </p:cNvPicPr>
          <p:nvPr/>
        </p:nvPicPr>
        <p:blipFill>
          <a:blip r:embed="rId1"/>
          <a:stretch>
            <a:fillRect/>
          </a:stretch>
        </p:blipFill>
        <p:spPr>
          <a:xfrm>
            <a:off x="1485900" y="3081528"/>
            <a:ext cx="502920" cy="502920"/>
          </a:xfrm>
          <a:prstGeom prst="rect">
            <a:avLst/>
          </a:prstGeom>
        </p:spPr>
      </p:pic>
      <p:sp>
        <p:nvSpPr>
          <p:cNvPr id="5" name="Tekst 32"/>
          <p:cNvSpPr txBox="1"/>
          <p:nvPr/>
        </p:nvSpPr>
        <p:spPr>
          <a:xfrm>
            <a:off x="548640" y="3657600"/>
            <a:ext cx="2377440" cy="411480"/>
          </a:xfrm>
          <a:prstGeom prst="rect">
            <a:avLst/>
          </a:prstGeom>
          <a:noFill/>
          <a:ln/>
        </p:spPr>
        <p:txBody>
          <a:bodyPr wrap="square" lIns="0" tIns="0" rIns="0" bIns="0" rtlCol="0" anchor="ctr"/>
          <a:lstStyle/>
          <a:p>
            <a:pPr algn="ctr" indent="0" marL="0">
              <a:buNone/>
            </a:pPr>
            <a:r>
              <a:rPr lang="en-US" sz="2200" b="1" dirty="0">
                <a:solidFill>
                  <a:schemeClr val="bg1"/>
                </a:solidFill>
              </a:rPr>
              <a:t>LLM</a:t>
            </a:r>
            <a:endParaRPr lang="en-US" sz="2200" dirty="0"/>
          </a:p>
        </p:txBody>
      </p:sp>
      <p:sp>
        <p:nvSpPr>
          <p:cNvPr id="6" name="Tekst 33"/>
          <p:cNvSpPr txBox="1"/>
          <p:nvPr/>
        </p:nvSpPr>
        <p:spPr>
          <a:xfrm>
            <a:off x="548640" y="4069080"/>
            <a:ext cx="2377440" cy="274320"/>
          </a:xfrm>
          <a:prstGeom prst="rect">
            <a:avLst/>
          </a:prstGeom>
          <a:noFill/>
          <a:ln/>
        </p:spPr>
        <p:txBody>
          <a:bodyPr wrap="square" lIns="0" tIns="0" rIns="0" bIns="0" rtlCol="0" anchor="ctr"/>
          <a:lstStyle/>
          <a:p>
            <a:pPr algn="ctr" indent="0" marL="0">
              <a:buNone/>
            </a:pPr>
            <a:r>
              <a:rPr lang="en-US" sz="1400" dirty="0">
                <a:solidFill>
                  <a:schemeClr val="bg2"/>
                </a:solidFill>
              </a:rPr>
              <a:t>bv. Claude</a:t>
            </a:r>
            <a:endParaRPr lang="en-US" sz="1400" dirty="0"/>
          </a:p>
        </p:txBody>
      </p:sp>
      <p:sp>
        <p:nvSpPr>
          <p:cNvPr id="7" name="Pijl 34"/>
          <p:cNvSpPr/>
          <p:nvPr/>
        </p:nvSpPr>
        <p:spPr>
          <a:xfrm>
            <a:off x="3099816" y="3520440"/>
            <a:ext cx="384048" cy="365760"/>
          </a:xfrm>
          <a:prstGeom prst="rightArrow">
            <a:avLst/>
          </a:prstGeom>
          <a:solidFill>
            <a:schemeClr val="accent2"/>
          </a:solidFill>
          <a:ln/>
        </p:spPr>
      </p:sp>
      <p:sp>
        <p:nvSpPr>
          <p:cNvPr id="8" name="Kaart 35"/>
          <p:cNvSpPr/>
          <p:nvPr/>
        </p:nvSpPr>
        <p:spPr>
          <a:xfrm>
            <a:off x="3657600" y="2423160"/>
            <a:ext cx="3291840" cy="2560320"/>
          </a:xfrm>
          <a:prstGeom prst="roundRect">
            <a:avLst>
              <a:gd name="adj" fmla="val 4286"/>
            </a:avLst>
          </a:prstGeom>
          <a:solidFill>
            <a:schemeClr val="accent1"/>
          </a:solidFill>
          <a:ln/>
        </p:spPr>
      </p:sp>
      <p:pic>
        <p:nvPicPr>
          <p:cNvPr id="9" name="Icoon 36" descr="preencoded.png">    </p:cNvPr>
          <p:cNvPicPr>
            <a:picLocks noChangeAspect="1"/>
          </p:cNvPicPr>
          <p:nvPr/>
        </p:nvPicPr>
        <p:blipFill>
          <a:blip r:embed="rId2"/>
          <a:stretch>
            <a:fillRect/>
          </a:stretch>
        </p:blipFill>
        <p:spPr>
          <a:xfrm>
            <a:off x="4983480" y="2743200"/>
            <a:ext cx="640080" cy="640080"/>
          </a:xfrm>
          <a:prstGeom prst="rect">
            <a:avLst/>
          </a:prstGeom>
        </p:spPr>
      </p:pic>
      <p:sp>
        <p:nvSpPr>
          <p:cNvPr id="10" name="Tekst 37"/>
          <p:cNvSpPr txBox="1"/>
          <p:nvPr/>
        </p:nvSpPr>
        <p:spPr>
          <a:xfrm>
            <a:off x="3657600" y="3520440"/>
            <a:ext cx="3291840" cy="457200"/>
          </a:xfrm>
          <a:prstGeom prst="rect">
            <a:avLst/>
          </a:prstGeom>
          <a:noFill/>
          <a:ln/>
        </p:spPr>
        <p:txBody>
          <a:bodyPr wrap="square" lIns="0" tIns="0" rIns="0" bIns="0" rtlCol="0" anchor="ctr"/>
          <a:lstStyle/>
          <a:p>
            <a:pPr algn="ctr" indent="0" marL="0">
              <a:buNone/>
            </a:pPr>
            <a:r>
              <a:rPr lang="en-US" sz="2400" b="1" dirty="0">
                <a:solidFill>
                  <a:schemeClr val="bg1"/>
                </a:solidFill>
              </a:rPr>
              <a:t>MCP-server</a:t>
            </a:r>
            <a:endParaRPr lang="en-US" sz="2400" dirty="0"/>
          </a:p>
        </p:txBody>
      </p:sp>
      <p:sp>
        <p:nvSpPr>
          <p:cNvPr id="11" name="Tekst 38"/>
          <p:cNvSpPr txBox="1"/>
          <p:nvPr/>
        </p:nvSpPr>
        <p:spPr>
          <a:xfrm>
            <a:off x="3657600" y="3995928"/>
            <a:ext cx="3291840" cy="320040"/>
          </a:xfrm>
          <a:prstGeom prst="rect">
            <a:avLst/>
          </a:prstGeom>
          <a:noFill/>
          <a:ln/>
        </p:spPr>
        <p:txBody>
          <a:bodyPr wrap="square" lIns="0" tIns="0" rIns="0" bIns="0" rtlCol="0" anchor="ctr"/>
          <a:lstStyle/>
          <a:p>
            <a:pPr algn="ctr" indent="0" marL="0">
              <a:buNone/>
            </a:pPr>
            <a:r>
              <a:rPr lang="en-US" sz="1600" dirty="0">
                <a:solidFill>
                  <a:schemeClr val="bg1"/>
                </a:solidFill>
                <a:latin typeface="Courier New" pitchFamily="34" charset="0"/>
                <a:ea typeface="Courier New" pitchFamily="34" charset="-122"/>
                <a:cs typeface="Courier New" pitchFamily="34" charset="-120"/>
              </a:rPr>
              <a:t>trends-ai</a:t>
            </a:r>
            <a:endParaRPr lang="en-US" sz="1600" dirty="0"/>
          </a:p>
        </p:txBody>
      </p:sp>
      <p:sp>
        <p:nvSpPr>
          <p:cNvPr id="12" name="Tekst 39"/>
          <p:cNvSpPr txBox="1"/>
          <p:nvPr/>
        </p:nvSpPr>
        <p:spPr>
          <a:xfrm>
            <a:off x="3657600" y="4389120"/>
            <a:ext cx="3291840" cy="320040"/>
          </a:xfrm>
          <a:prstGeom prst="rect">
            <a:avLst/>
          </a:prstGeom>
          <a:noFill/>
          <a:ln/>
        </p:spPr>
        <p:txBody>
          <a:bodyPr wrap="square" lIns="0" tIns="0" rIns="0" bIns="0" rtlCol="0" anchor="ctr"/>
          <a:lstStyle/>
          <a:p>
            <a:pPr algn="ctr" indent="0" marL="0">
              <a:buNone/>
            </a:pPr>
            <a:r>
              <a:rPr lang="en-US" sz="1600" dirty="0">
                <a:solidFill>
                  <a:schemeClr val="bg1"/>
                </a:solidFill>
              </a:rPr>
              <a:t>8 tools voor het model</a:t>
            </a:r>
            <a:endParaRPr lang="en-US" sz="1600" dirty="0"/>
          </a:p>
        </p:txBody>
      </p:sp>
      <p:sp>
        <p:nvSpPr>
          <p:cNvPr id="13" name="Pijl 40"/>
          <p:cNvSpPr/>
          <p:nvPr/>
        </p:nvSpPr>
        <p:spPr>
          <a:xfrm>
            <a:off x="7123176" y="2194560"/>
            <a:ext cx="384048" cy="365760"/>
          </a:xfrm>
          <a:prstGeom prst="rightArrow">
            <a:avLst/>
          </a:prstGeom>
          <a:solidFill>
            <a:schemeClr val="accent2"/>
          </a:solidFill>
          <a:ln/>
        </p:spPr>
      </p:sp>
      <p:sp>
        <p:nvSpPr>
          <p:cNvPr id="14" name="Kaart 41"/>
          <p:cNvSpPr/>
          <p:nvPr/>
        </p:nvSpPr>
        <p:spPr>
          <a:xfrm>
            <a:off x="7680960" y="1783080"/>
            <a:ext cx="3931920" cy="1188720"/>
          </a:xfrm>
          <a:prstGeom prst="roundRect">
            <a:avLst>
              <a:gd name="adj" fmla="val 9231"/>
            </a:avLst>
          </a:prstGeom>
          <a:solidFill>
            <a:schemeClr val="bg2"/>
          </a:solidFill>
          <a:ln/>
        </p:spPr>
      </p:sp>
      <p:sp>
        <p:nvSpPr>
          <p:cNvPr id="15" name="Cirkel 42"/>
          <p:cNvSpPr/>
          <p:nvPr/>
        </p:nvSpPr>
        <p:spPr>
          <a:xfrm>
            <a:off x="7909560" y="2103120"/>
            <a:ext cx="548640" cy="548640"/>
          </a:xfrm>
          <a:prstGeom prst="ellipse">
            <a:avLst/>
          </a:prstGeom>
          <a:solidFill>
            <a:schemeClr val="accent1"/>
          </a:solidFill>
          <a:ln/>
        </p:spPr>
      </p:sp>
      <p:pic>
        <p:nvPicPr>
          <p:cNvPr id="16" name="Icoon 43" descr="preencoded.png">    </p:cNvPr>
          <p:cNvPicPr>
            <a:picLocks noChangeAspect="1"/>
          </p:cNvPicPr>
          <p:nvPr/>
        </p:nvPicPr>
        <p:blipFill>
          <a:blip r:embed="rId3"/>
          <a:stretch>
            <a:fillRect/>
          </a:stretch>
        </p:blipFill>
        <p:spPr>
          <a:xfrm>
            <a:off x="8057693" y="2251253"/>
            <a:ext cx="252374" cy="252374"/>
          </a:xfrm>
          <a:prstGeom prst="rect">
            <a:avLst/>
          </a:prstGeom>
        </p:spPr>
      </p:pic>
      <p:sp>
        <p:nvSpPr>
          <p:cNvPr id="17" name="Tekst 44"/>
          <p:cNvSpPr txBox="1"/>
          <p:nvPr/>
        </p:nvSpPr>
        <p:spPr>
          <a:xfrm>
            <a:off x="8686800" y="1965960"/>
            <a:ext cx="2834640" cy="365760"/>
          </a:xfrm>
          <a:prstGeom prst="rect">
            <a:avLst/>
          </a:prstGeom>
          <a:noFill/>
          <a:ln/>
        </p:spPr>
        <p:txBody>
          <a:bodyPr wrap="square" lIns="0" tIns="0" rIns="0" bIns="0" rtlCol="0" anchor="ctr"/>
          <a:lstStyle/>
          <a:p>
            <a:pPr indent="0" marL="0">
              <a:buNone/>
            </a:pPr>
            <a:r>
              <a:rPr lang="en-US" sz="1800" b="1" dirty="0">
                <a:solidFill>
                  <a:schemeClr val="tx2"/>
                </a:solidFill>
              </a:rPr>
              <a:t>Geheugen</a:t>
            </a:r>
            <a:endParaRPr lang="en-US" sz="1800" dirty="0"/>
          </a:p>
        </p:txBody>
      </p:sp>
      <p:sp>
        <p:nvSpPr>
          <p:cNvPr id="18" name="Tekst 45"/>
          <p:cNvSpPr txBox="1"/>
          <p:nvPr/>
        </p:nvSpPr>
        <p:spPr>
          <a:xfrm>
            <a:off x="8686800" y="2377440"/>
            <a:ext cx="2834640" cy="365760"/>
          </a:xfrm>
          <a:prstGeom prst="rect">
            <a:avLst/>
          </a:prstGeom>
          <a:noFill/>
          <a:ln/>
        </p:spPr>
        <p:txBody>
          <a:bodyPr wrap="square" lIns="0" tIns="0" rIns="0" bIns="0" rtlCol="0" anchor="ctr"/>
          <a:lstStyle/>
          <a:p>
            <a:pPr indent="0" marL="0">
              <a:buNone/>
            </a:pPr>
            <a:r>
              <a:rPr lang="en-US" sz="1400" dirty="0">
                <a:solidFill>
                  <a:schemeClr val="tx1"/>
                </a:solidFill>
              </a:rPr>
              <a:t>Wie je bent: naam, klas, voorkeuren</a:t>
            </a:r>
            <a:endParaRPr lang="en-US" sz="1400" dirty="0"/>
          </a:p>
        </p:txBody>
      </p:sp>
      <p:sp>
        <p:nvSpPr>
          <p:cNvPr id="19" name="Pijl 46"/>
          <p:cNvSpPr/>
          <p:nvPr/>
        </p:nvSpPr>
        <p:spPr>
          <a:xfrm>
            <a:off x="7123176" y="3520440"/>
            <a:ext cx="384048" cy="365760"/>
          </a:xfrm>
          <a:prstGeom prst="rightArrow">
            <a:avLst/>
          </a:prstGeom>
          <a:solidFill>
            <a:schemeClr val="accent2"/>
          </a:solidFill>
          <a:ln/>
        </p:spPr>
      </p:sp>
      <p:sp>
        <p:nvSpPr>
          <p:cNvPr id="20" name="Kaart 47"/>
          <p:cNvSpPr/>
          <p:nvPr/>
        </p:nvSpPr>
        <p:spPr>
          <a:xfrm>
            <a:off x="7680960" y="3108960"/>
            <a:ext cx="3931920" cy="1188720"/>
          </a:xfrm>
          <a:prstGeom prst="roundRect">
            <a:avLst>
              <a:gd name="adj" fmla="val 9231"/>
            </a:avLst>
          </a:prstGeom>
          <a:solidFill>
            <a:schemeClr val="bg2"/>
          </a:solidFill>
          <a:ln/>
        </p:spPr>
      </p:sp>
      <p:sp>
        <p:nvSpPr>
          <p:cNvPr id="21" name="Cirkel 48"/>
          <p:cNvSpPr/>
          <p:nvPr/>
        </p:nvSpPr>
        <p:spPr>
          <a:xfrm>
            <a:off x="7909560" y="3429000"/>
            <a:ext cx="548640" cy="548640"/>
          </a:xfrm>
          <a:prstGeom prst="ellipse">
            <a:avLst/>
          </a:prstGeom>
          <a:solidFill>
            <a:schemeClr val="accent1"/>
          </a:solidFill>
          <a:ln/>
        </p:spPr>
      </p:sp>
      <p:pic>
        <p:nvPicPr>
          <p:cNvPr id="22" name="Icoon 49" descr="preencoded.png">    </p:cNvPr>
          <p:cNvPicPr>
            <a:picLocks noChangeAspect="1"/>
          </p:cNvPicPr>
          <p:nvPr/>
        </p:nvPicPr>
        <p:blipFill>
          <a:blip r:embed="rId4"/>
          <a:stretch>
            <a:fillRect/>
          </a:stretch>
        </p:blipFill>
        <p:spPr>
          <a:xfrm>
            <a:off x="8057693" y="3577133"/>
            <a:ext cx="252374" cy="252374"/>
          </a:xfrm>
          <a:prstGeom prst="rect">
            <a:avLst/>
          </a:prstGeom>
        </p:spPr>
      </p:pic>
      <p:sp>
        <p:nvSpPr>
          <p:cNvPr id="23" name="Tekst 50"/>
          <p:cNvSpPr txBox="1"/>
          <p:nvPr/>
        </p:nvSpPr>
        <p:spPr>
          <a:xfrm>
            <a:off x="8686800" y="3291840"/>
            <a:ext cx="2834640" cy="365760"/>
          </a:xfrm>
          <a:prstGeom prst="rect">
            <a:avLst/>
          </a:prstGeom>
          <a:noFill/>
          <a:ln/>
        </p:spPr>
        <p:txBody>
          <a:bodyPr wrap="square" lIns="0" tIns="0" rIns="0" bIns="0" rtlCol="0" anchor="ctr"/>
          <a:lstStyle/>
          <a:p>
            <a:pPr indent="0" marL="0">
              <a:buNone/>
            </a:pPr>
            <a:r>
              <a:rPr lang="en-US" sz="1800" b="1" dirty="0">
                <a:solidFill>
                  <a:schemeClr val="tx2"/>
                </a:solidFill>
              </a:rPr>
              <a:t>Rooster</a:t>
            </a:r>
            <a:endParaRPr lang="en-US" sz="1800" dirty="0"/>
          </a:p>
        </p:txBody>
      </p:sp>
      <p:sp>
        <p:nvSpPr>
          <p:cNvPr id="24" name="Tekst 51"/>
          <p:cNvSpPr txBox="1"/>
          <p:nvPr/>
        </p:nvSpPr>
        <p:spPr>
          <a:xfrm>
            <a:off x="8686800" y="3703320"/>
            <a:ext cx="2834640" cy="365760"/>
          </a:xfrm>
          <a:prstGeom prst="rect">
            <a:avLst/>
          </a:prstGeom>
          <a:noFill/>
          <a:ln/>
        </p:spPr>
        <p:txBody>
          <a:bodyPr wrap="square" lIns="0" tIns="0" rIns="0" bIns="0" rtlCol="0" anchor="ctr"/>
          <a:lstStyle/>
          <a:p>
            <a:pPr indent="0" marL="0">
              <a:buNone/>
            </a:pPr>
            <a:r>
              <a:rPr lang="en-US" sz="1400" dirty="0">
                <a:solidFill>
                  <a:schemeClr val="tx1"/>
                </a:solidFill>
              </a:rPr>
              <a:t>Je lessen uit WebUntis</a:t>
            </a:r>
            <a:endParaRPr lang="en-US" sz="1400" dirty="0"/>
          </a:p>
        </p:txBody>
      </p:sp>
      <p:sp>
        <p:nvSpPr>
          <p:cNvPr id="25" name="Pijl 52"/>
          <p:cNvSpPr/>
          <p:nvPr/>
        </p:nvSpPr>
        <p:spPr>
          <a:xfrm>
            <a:off x="7123176" y="4846320"/>
            <a:ext cx="384048" cy="365760"/>
          </a:xfrm>
          <a:prstGeom prst="rightArrow">
            <a:avLst/>
          </a:prstGeom>
          <a:solidFill>
            <a:schemeClr val="accent2"/>
          </a:solidFill>
          <a:ln/>
        </p:spPr>
      </p:sp>
      <p:sp>
        <p:nvSpPr>
          <p:cNvPr id="26" name="Kaart 53"/>
          <p:cNvSpPr/>
          <p:nvPr/>
        </p:nvSpPr>
        <p:spPr>
          <a:xfrm>
            <a:off x="7680960" y="4434840"/>
            <a:ext cx="3931920" cy="1188720"/>
          </a:xfrm>
          <a:prstGeom prst="roundRect">
            <a:avLst>
              <a:gd name="adj" fmla="val 9231"/>
            </a:avLst>
          </a:prstGeom>
          <a:solidFill>
            <a:schemeClr val="bg2"/>
          </a:solidFill>
          <a:ln/>
        </p:spPr>
      </p:sp>
      <p:sp>
        <p:nvSpPr>
          <p:cNvPr id="27" name="Cirkel 54"/>
          <p:cNvSpPr/>
          <p:nvPr/>
        </p:nvSpPr>
        <p:spPr>
          <a:xfrm>
            <a:off x="7909560" y="4754880"/>
            <a:ext cx="548640" cy="548640"/>
          </a:xfrm>
          <a:prstGeom prst="ellipse">
            <a:avLst/>
          </a:prstGeom>
          <a:solidFill>
            <a:schemeClr val="accent1"/>
          </a:solidFill>
          <a:ln/>
        </p:spPr>
      </p:sp>
      <p:pic>
        <p:nvPicPr>
          <p:cNvPr id="28" name="Icoon 55" descr="preencoded.png">    </p:cNvPr>
          <p:cNvPicPr>
            <a:picLocks noChangeAspect="1"/>
          </p:cNvPicPr>
          <p:nvPr/>
        </p:nvPicPr>
        <p:blipFill>
          <a:blip r:embed="rId5"/>
          <a:stretch>
            <a:fillRect/>
          </a:stretch>
        </p:blipFill>
        <p:spPr>
          <a:xfrm>
            <a:off x="8057693" y="4903013"/>
            <a:ext cx="252374" cy="252374"/>
          </a:xfrm>
          <a:prstGeom prst="rect">
            <a:avLst/>
          </a:prstGeom>
        </p:spPr>
      </p:pic>
      <p:sp>
        <p:nvSpPr>
          <p:cNvPr id="29" name="Tekst 56"/>
          <p:cNvSpPr txBox="1"/>
          <p:nvPr/>
        </p:nvSpPr>
        <p:spPr>
          <a:xfrm>
            <a:off x="8686800" y="4617720"/>
            <a:ext cx="2834640" cy="365760"/>
          </a:xfrm>
          <a:prstGeom prst="rect">
            <a:avLst/>
          </a:prstGeom>
          <a:noFill/>
          <a:ln/>
        </p:spPr>
        <p:txBody>
          <a:bodyPr wrap="square" lIns="0" tIns="0" rIns="0" bIns="0" rtlCol="0" anchor="ctr"/>
          <a:lstStyle/>
          <a:p>
            <a:pPr indent="0" marL="0">
              <a:buNone/>
            </a:pPr>
            <a:r>
              <a:rPr lang="en-US" sz="1800" b="1" dirty="0">
                <a:solidFill>
                  <a:schemeClr val="tx2"/>
                </a:solidFill>
              </a:rPr>
              <a:t>Deadlines</a:t>
            </a:r>
            <a:endParaRPr lang="en-US" sz="1800" dirty="0"/>
          </a:p>
        </p:txBody>
      </p:sp>
      <p:sp>
        <p:nvSpPr>
          <p:cNvPr id="30" name="Tekst 57"/>
          <p:cNvSpPr txBox="1"/>
          <p:nvPr/>
        </p:nvSpPr>
        <p:spPr>
          <a:xfrm>
            <a:off x="8686800" y="5029200"/>
            <a:ext cx="2834640" cy="365760"/>
          </a:xfrm>
          <a:prstGeom prst="rect">
            <a:avLst/>
          </a:prstGeom>
          <a:noFill/>
          <a:ln/>
        </p:spPr>
        <p:txBody>
          <a:bodyPr wrap="square" lIns="0" tIns="0" rIns="0" bIns="0" rtlCol="0" anchor="ctr"/>
          <a:lstStyle/>
          <a:p>
            <a:pPr indent="0" marL="0">
              <a:buNone/>
            </a:pPr>
            <a:r>
              <a:rPr lang="en-US" sz="1400" dirty="0">
                <a:solidFill>
                  <a:schemeClr val="tx1"/>
                </a:solidFill>
              </a:rPr>
              <a:t>Je taken uit de Digitap-kalender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Context verandert het antwoord</a:t>
            </a:r>
            <a:endParaRPr lang="en-US" sz="3600" dirty="0"/>
          </a:p>
        </p:txBody>
      </p:sp>
      <p:sp>
        <p:nvSpPr>
          <p:cNvPr id="3" name="Tekst 58"/>
          <p:cNvSpPr txBox="1"/>
          <p:nvPr/>
        </p:nvSpPr>
        <p:spPr>
          <a:xfrm>
            <a:off x="3291840" y="1508760"/>
            <a:ext cx="3840480" cy="320040"/>
          </a:xfrm>
          <a:prstGeom prst="rect">
            <a:avLst/>
          </a:prstGeom>
          <a:noFill/>
          <a:ln/>
        </p:spPr>
        <p:txBody>
          <a:bodyPr wrap="square" lIns="0" tIns="0" rIns="0" bIns="0" rtlCol="0" anchor="t"/>
          <a:lstStyle/>
          <a:p>
            <a:pPr indent="0" marL="0">
              <a:buNone/>
            </a:pPr>
            <a:r>
              <a:rPr lang="en-US" sz="1600" b="1" dirty="0">
                <a:solidFill>
                  <a:schemeClr val="accent5"/>
                </a:solidFill>
              </a:rPr>
              <a:t>Leeg geheugen</a:t>
            </a:r>
            <a:endParaRPr lang="en-US" sz="1600" dirty="0"/>
          </a:p>
        </p:txBody>
      </p:sp>
      <p:sp>
        <p:nvSpPr>
          <p:cNvPr id="4" name="Tekst 59"/>
          <p:cNvSpPr txBox="1"/>
          <p:nvPr/>
        </p:nvSpPr>
        <p:spPr>
          <a:xfrm>
            <a:off x="7772400" y="1508760"/>
            <a:ext cx="3840480" cy="320040"/>
          </a:xfrm>
          <a:prstGeom prst="rect">
            <a:avLst/>
          </a:prstGeom>
          <a:noFill/>
          <a:ln/>
        </p:spPr>
        <p:txBody>
          <a:bodyPr wrap="square" lIns="0" tIns="0" rIns="0" bIns="0" rtlCol="0" anchor="t"/>
          <a:lstStyle/>
          <a:p>
            <a:pPr indent="0" marL="0">
              <a:buNone/>
            </a:pPr>
            <a:r>
              <a:rPr lang="en-US" sz="1600" b="1" dirty="0">
                <a:solidFill>
                  <a:schemeClr val="accent1"/>
                </a:solidFill>
              </a:rPr>
              <a:t>Met geheugen</a:t>
            </a:r>
            <a:endParaRPr lang="en-US" sz="1600" dirty="0"/>
          </a:p>
        </p:txBody>
      </p:sp>
      <p:sp>
        <p:nvSpPr>
          <p:cNvPr id="5" name="Cirkel 60"/>
          <p:cNvSpPr/>
          <p:nvPr/>
        </p:nvSpPr>
        <p:spPr>
          <a:xfrm>
            <a:off x="548640" y="2217420"/>
            <a:ext cx="640080" cy="640080"/>
          </a:xfrm>
          <a:prstGeom prst="ellipse">
            <a:avLst/>
          </a:prstGeom>
          <a:solidFill>
            <a:schemeClr val="accent1"/>
          </a:solidFill>
          <a:ln/>
        </p:spPr>
      </p:sp>
      <p:pic>
        <p:nvPicPr>
          <p:cNvPr id="6" name="Icoon 61" descr="preencoded.png">    </p:cNvPr>
          <p:cNvPicPr>
            <a:picLocks noChangeAspect="1"/>
          </p:cNvPicPr>
          <p:nvPr/>
        </p:nvPicPr>
        <p:blipFill>
          <a:blip r:embed="rId1"/>
          <a:stretch>
            <a:fillRect/>
          </a:stretch>
        </p:blipFill>
        <p:spPr>
          <a:xfrm>
            <a:off x="721462" y="2390242"/>
            <a:ext cx="294437" cy="294437"/>
          </a:xfrm>
          <a:prstGeom prst="rect">
            <a:avLst/>
          </a:prstGeom>
        </p:spPr>
      </p:pic>
      <p:sp>
        <p:nvSpPr>
          <p:cNvPr id="7" name="Tekst 62"/>
          <p:cNvSpPr txBox="1"/>
          <p:nvPr/>
        </p:nvSpPr>
        <p:spPr>
          <a:xfrm>
            <a:off x="1371600" y="1965960"/>
            <a:ext cx="1828800" cy="1143000"/>
          </a:xfrm>
          <a:prstGeom prst="rect">
            <a:avLst/>
          </a:prstGeom>
          <a:noFill/>
          <a:ln/>
        </p:spPr>
        <p:txBody>
          <a:bodyPr wrap="square" lIns="0" tIns="0" rIns="0" bIns="0" rtlCol="0" anchor="ctr"/>
          <a:lstStyle/>
          <a:p>
            <a:pPr indent="0" marL="0">
              <a:buNone/>
            </a:pPr>
            <a:r>
              <a:rPr lang="en-US" sz="2000" b="1" dirty="0">
                <a:solidFill>
                  <a:schemeClr val="tx2"/>
                </a:solidFill>
              </a:rPr>
              <a:t>Begroeting</a:t>
            </a:r>
            <a:endParaRPr lang="en-US" sz="2000" dirty="0"/>
          </a:p>
        </p:txBody>
      </p:sp>
      <p:sp>
        <p:nvSpPr>
          <p:cNvPr id="8" name="Kaart 63"/>
          <p:cNvSpPr/>
          <p:nvPr/>
        </p:nvSpPr>
        <p:spPr>
          <a:xfrm>
            <a:off x="3291840" y="1965960"/>
            <a:ext cx="3840480" cy="1143000"/>
          </a:xfrm>
          <a:prstGeom prst="roundRect">
            <a:avLst>
              <a:gd name="adj" fmla="val 9600"/>
            </a:avLst>
          </a:prstGeom>
          <a:solidFill>
            <a:schemeClr val="bg1"/>
          </a:solidFill>
          <a:ln w="12700">
            <a:solidFill>
              <a:srgbClr val="C9D6E0"/>
            </a:solidFill>
            <a:prstDash val="solid"/>
          </a:ln>
        </p:spPr>
      </p:sp>
      <p:sp>
        <p:nvSpPr>
          <p:cNvPr id="9" name="Tekst 64"/>
          <p:cNvSpPr txBox="1"/>
          <p:nvPr/>
        </p:nvSpPr>
        <p:spPr>
          <a:xfrm>
            <a:off x="3520440" y="1965960"/>
            <a:ext cx="3383280" cy="1143000"/>
          </a:xfrm>
          <a:prstGeom prst="rect">
            <a:avLst/>
          </a:prstGeom>
          <a:noFill/>
          <a:ln/>
        </p:spPr>
        <p:txBody>
          <a:bodyPr wrap="square" lIns="0" tIns="0" rIns="0" bIns="0" rtlCol="0" anchor="ctr"/>
          <a:lstStyle/>
          <a:p>
            <a:pPr indent="0" marL="0">
              <a:buNone/>
            </a:pPr>
            <a:r>
              <a:rPr lang="en-US" sz="1600" dirty="0">
                <a:solidFill>
                  <a:schemeClr val="accent5"/>
                </a:solidFill>
              </a:rPr>
              <a:t>De assistent kent je nog niet</a:t>
            </a:r>
            <a:endParaRPr lang="en-US" sz="1600" dirty="0"/>
          </a:p>
        </p:txBody>
      </p:sp>
      <p:sp>
        <p:nvSpPr>
          <p:cNvPr id="10" name="Pijl 65"/>
          <p:cNvSpPr/>
          <p:nvPr/>
        </p:nvSpPr>
        <p:spPr>
          <a:xfrm>
            <a:off x="7260336" y="2354580"/>
            <a:ext cx="384048" cy="365760"/>
          </a:xfrm>
          <a:prstGeom prst="rightArrow">
            <a:avLst/>
          </a:prstGeom>
          <a:solidFill>
            <a:schemeClr val="accent2"/>
          </a:solidFill>
          <a:ln/>
        </p:spPr>
      </p:sp>
      <p:sp>
        <p:nvSpPr>
          <p:cNvPr id="11" name="Kaart 66"/>
          <p:cNvSpPr/>
          <p:nvPr/>
        </p:nvSpPr>
        <p:spPr>
          <a:xfrm>
            <a:off x="7772400" y="1965960"/>
            <a:ext cx="3840480" cy="1143000"/>
          </a:xfrm>
          <a:prstGeom prst="roundRect">
            <a:avLst>
              <a:gd name="adj" fmla="val 9600"/>
            </a:avLst>
          </a:prstGeom>
          <a:solidFill>
            <a:schemeClr val="bg2"/>
          </a:solidFill>
          <a:ln/>
        </p:spPr>
      </p:sp>
      <p:sp>
        <p:nvSpPr>
          <p:cNvPr id="12" name="Tekst 67"/>
          <p:cNvSpPr txBox="1"/>
          <p:nvPr/>
        </p:nvSpPr>
        <p:spPr>
          <a:xfrm>
            <a:off x="8001000" y="1965960"/>
            <a:ext cx="3383280" cy="1143000"/>
          </a:xfrm>
          <a:prstGeom prst="rect">
            <a:avLst/>
          </a:prstGeom>
          <a:noFill/>
          <a:ln/>
        </p:spPr>
        <p:txBody>
          <a:bodyPr wrap="square" lIns="0" tIns="0" rIns="0" bIns="0" rtlCol="0" anchor="ctr"/>
          <a:lstStyle/>
          <a:p>
            <a:pPr indent="0" marL="0">
              <a:buNone/>
            </a:pPr>
            <a:r>
              <a:rPr lang="en-US" sz="1600" b="1" dirty="0">
                <a:solidFill>
                  <a:schemeClr val="tx2"/>
                </a:solidFill>
              </a:rPr>
              <a:t>Begroeting op maat: naam, klas en studiejaar</a:t>
            </a:r>
            <a:endParaRPr lang="en-US" sz="1600" dirty="0"/>
          </a:p>
        </p:txBody>
      </p:sp>
      <p:sp>
        <p:nvSpPr>
          <p:cNvPr id="13" name="Cirkel 68"/>
          <p:cNvSpPr/>
          <p:nvPr/>
        </p:nvSpPr>
        <p:spPr>
          <a:xfrm>
            <a:off x="548640" y="3543300"/>
            <a:ext cx="640080" cy="640080"/>
          </a:xfrm>
          <a:prstGeom prst="ellipse">
            <a:avLst/>
          </a:prstGeom>
          <a:solidFill>
            <a:schemeClr val="accent1"/>
          </a:solidFill>
          <a:ln/>
        </p:spPr>
      </p:sp>
      <p:pic>
        <p:nvPicPr>
          <p:cNvPr id="14" name="Icoon 69" descr="preencoded.png">    </p:cNvPr>
          <p:cNvPicPr>
            <a:picLocks noChangeAspect="1"/>
          </p:cNvPicPr>
          <p:nvPr/>
        </p:nvPicPr>
        <p:blipFill>
          <a:blip r:embed="rId2"/>
          <a:stretch>
            <a:fillRect/>
          </a:stretch>
        </p:blipFill>
        <p:spPr>
          <a:xfrm>
            <a:off x="721462" y="3716122"/>
            <a:ext cx="294437" cy="294437"/>
          </a:xfrm>
          <a:prstGeom prst="rect">
            <a:avLst/>
          </a:prstGeom>
        </p:spPr>
      </p:pic>
      <p:sp>
        <p:nvSpPr>
          <p:cNvPr id="15" name="Tekst 70"/>
          <p:cNvSpPr txBox="1"/>
          <p:nvPr/>
        </p:nvSpPr>
        <p:spPr>
          <a:xfrm>
            <a:off x="1371600" y="3291840"/>
            <a:ext cx="1828800" cy="1143000"/>
          </a:xfrm>
          <a:prstGeom prst="rect">
            <a:avLst/>
          </a:prstGeom>
          <a:noFill/>
          <a:ln/>
        </p:spPr>
        <p:txBody>
          <a:bodyPr wrap="square" lIns="0" tIns="0" rIns="0" bIns="0" rtlCol="0" anchor="ctr"/>
          <a:lstStyle/>
          <a:p>
            <a:pPr indent="0" marL="0">
              <a:buNone/>
            </a:pPr>
            <a:r>
              <a:rPr lang="en-US" sz="2000" b="1" dirty="0">
                <a:solidFill>
                  <a:schemeClr val="tx2"/>
                </a:solidFill>
              </a:rPr>
              <a:t>Rooster</a:t>
            </a:r>
            <a:endParaRPr lang="en-US" sz="2000" dirty="0"/>
          </a:p>
        </p:txBody>
      </p:sp>
      <p:sp>
        <p:nvSpPr>
          <p:cNvPr id="16" name="Kaart 71"/>
          <p:cNvSpPr/>
          <p:nvPr/>
        </p:nvSpPr>
        <p:spPr>
          <a:xfrm>
            <a:off x="3291840" y="3291840"/>
            <a:ext cx="3840480" cy="1143000"/>
          </a:xfrm>
          <a:prstGeom prst="roundRect">
            <a:avLst>
              <a:gd name="adj" fmla="val 9600"/>
            </a:avLst>
          </a:prstGeom>
          <a:solidFill>
            <a:schemeClr val="bg1"/>
          </a:solidFill>
          <a:ln w="12700">
            <a:solidFill>
              <a:srgbClr val="C9D6E0"/>
            </a:solidFill>
            <a:prstDash val="solid"/>
          </a:ln>
        </p:spPr>
      </p:sp>
      <p:sp>
        <p:nvSpPr>
          <p:cNvPr id="17" name="Tekst 72"/>
          <p:cNvSpPr txBox="1"/>
          <p:nvPr/>
        </p:nvSpPr>
        <p:spPr>
          <a:xfrm>
            <a:off x="3520440" y="3291840"/>
            <a:ext cx="3383280" cy="1143000"/>
          </a:xfrm>
          <a:prstGeom prst="rect">
            <a:avLst/>
          </a:prstGeom>
          <a:noFill/>
          <a:ln/>
        </p:spPr>
        <p:txBody>
          <a:bodyPr wrap="square" lIns="0" tIns="0" rIns="0" bIns="0" rtlCol="0" anchor="ctr"/>
          <a:lstStyle/>
          <a:p>
            <a:pPr indent="0" marL="0">
              <a:buNone/>
            </a:pPr>
            <a:r>
              <a:rPr lang="en-US" sz="1600" dirty="0">
                <a:solidFill>
                  <a:schemeClr val="accent5"/>
                </a:solidFill>
              </a:rPr>
              <a:t>Toont een standaardklas</a:t>
            </a:r>
            <a:endParaRPr lang="en-US" sz="1600" dirty="0"/>
          </a:p>
        </p:txBody>
      </p:sp>
      <p:sp>
        <p:nvSpPr>
          <p:cNvPr id="18" name="Pijl 73"/>
          <p:cNvSpPr/>
          <p:nvPr/>
        </p:nvSpPr>
        <p:spPr>
          <a:xfrm>
            <a:off x="7260336" y="3680460"/>
            <a:ext cx="384048" cy="365760"/>
          </a:xfrm>
          <a:prstGeom prst="rightArrow">
            <a:avLst/>
          </a:prstGeom>
          <a:solidFill>
            <a:schemeClr val="accent2"/>
          </a:solidFill>
          <a:ln/>
        </p:spPr>
      </p:sp>
      <p:sp>
        <p:nvSpPr>
          <p:cNvPr id="19" name="Kaart 74"/>
          <p:cNvSpPr/>
          <p:nvPr/>
        </p:nvSpPr>
        <p:spPr>
          <a:xfrm>
            <a:off x="7772400" y="3291840"/>
            <a:ext cx="3840480" cy="1143000"/>
          </a:xfrm>
          <a:prstGeom prst="roundRect">
            <a:avLst>
              <a:gd name="adj" fmla="val 9600"/>
            </a:avLst>
          </a:prstGeom>
          <a:solidFill>
            <a:schemeClr val="bg2"/>
          </a:solidFill>
          <a:ln/>
        </p:spPr>
      </p:sp>
      <p:sp>
        <p:nvSpPr>
          <p:cNvPr id="20" name="Tekst 75"/>
          <p:cNvSpPr txBox="1"/>
          <p:nvPr/>
        </p:nvSpPr>
        <p:spPr>
          <a:xfrm>
            <a:off x="8001000" y="3291840"/>
            <a:ext cx="3383280" cy="1143000"/>
          </a:xfrm>
          <a:prstGeom prst="rect">
            <a:avLst/>
          </a:prstGeom>
          <a:noFill/>
          <a:ln/>
        </p:spPr>
        <p:txBody>
          <a:bodyPr wrap="square" lIns="0" tIns="0" rIns="0" bIns="0" rtlCol="0" anchor="ctr"/>
          <a:lstStyle/>
          <a:p>
            <a:pPr indent="0" marL="0">
              <a:buNone/>
            </a:pPr>
            <a:r>
              <a:rPr lang="en-US" sz="1600" b="1" dirty="0">
                <a:solidFill>
                  <a:schemeClr val="tx2"/>
                </a:solidFill>
              </a:rPr>
              <a:t>Toont het rooster van jouw klas</a:t>
            </a:r>
            <a:endParaRPr lang="en-US" sz="1600" dirty="0"/>
          </a:p>
        </p:txBody>
      </p:sp>
      <p:sp>
        <p:nvSpPr>
          <p:cNvPr id="21" name="Cirkel 76"/>
          <p:cNvSpPr/>
          <p:nvPr/>
        </p:nvSpPr>
        <p:spPr>
          <a:xfrm>
            <a:off x="548640" y="4869180"/>
            <a:ext cx="640080" cy="640080"/>
          </a:xfrm>
          <a:prstGeom prst="ellipse">
            <a:avLst/>
          </a:prstGeom>
          <a:solidFill>
            <a:schemeClr val="accent1"/>
          </a:solidFill>
          <a:ln/>
        </p:spPr>
      </p:sp>
      <p:pic>
        <p:nvPicPr>
          <p:cNvPr id="22" name="Icoon 77" descr="preencoded.png">    </p:cNvPr>
          <p:cNvPicPr>
            <a:picLocks noChangeAspect="1"/>
          </p:cNvPicPr>
          <p:nvPr/>
        </p:nvPicPr>
        <p:blipFill>
          <a:blip r:embed="rId3"/>
          <a:stretch>
            <a:fillRect/>
          </a:stretch>
        </p:blipFill>
        <p:spPr>
          <a:xfrm>
            <a:off x="721462" y="5042002"/>
            <a:ext cx="294437" cy="294437"/>
          </a:xfrm>
          <a:prstGeom prst="rect">
            <a:avLst/>
          </a:prstGeom>
        </p:spPr>
      </p:pic>
      <p:sp>
        <p:nvSpPr>
          <p:cNvPr id="23" name="Tekst 78"/>
          <p:cNvSpPr txBox="1"/>
          <p:nvPr/>
        </p:nvSpPr>
        <p:spPr>
          <a:xfrm>
            <a:off x="1371600" y="4617720"/>
            <a:ext cx="1828800" cy="1143000"/>
          </a:xfrm>
          <a:prstGeom prst="rect">
            <a:avLst/>
          </a:prstGeom>
          <a:noFill/>
          <a:ln/>
        </p:spPr>
        <p:txBody>
          <a:bodyPr wrap="square" lIns="0" tIns="0" rIns="0" bIns="0" rtlCol="0" anchor="ctr"/>
          <a:lstStyle/>
          <a:p>
            <a:pPr indent="0" marL="0">
              <a:buNone/>
            </a:pPr>
            <a:r>
              <a:rPr lang="en-US" sz="2000" b="1" dirty="0">
                <a:solidFill>
                  <a:schemeClr val="tx2"/>
                </a:solidFill>
              </a:rPr>
              <a:t>Deadlines</a:t>
            </a:r>
            <a:endParaRPr lang="en-US" sz="2000" dirty="0"/>
          </a:p>
        </p:txBody>
      </p:sp>
      <p:sp>
        <p:nvSpPr>
          <p:cNvPr id="24" name="Kaart 79"/>
          <p:cNvSpPr/>
          <p:nvPr/>
        </p:nvSpPr>
        <p:spPr>
          <a:xfrm>
            <a:off x="3291840" y="4617720"/>
            <a:ext cx="3840480" cy="1143000"/>
          </a:xfrm>
          <a:prstGeom prst="roundRect">
            <a:avLst>
              <a:gd name="adj" fmla="val 9600"/>
            </a:avLst>
          </a:prstGeom>
          <a:solidFill>
            <a:schemeClr val="bg1"/>
          </a:solidFill>
          <a:ln w="12700">
            <a:solidFill>
              <a:srgbClr val="C9D6E0"/>
            </a:solidFill>
            <a:prstDash val="solid"/>
          </a:ln>
        </p:spPr>
      </p:sp>
      <p:sp>
        <p:nvSpPr>
          <p:cNvPr id="25" name="Tekst 80"/>
          <p:cNvSpPr txBox="1"/>
          <p:nvPr/>
        </p:nvSpPr>
        <p:spPr>
          <a:xfrm>
            <a:off x="3520440" y="4617720"/>
            <a:ext cx="3383280" cy="1143000"/>
          </a:xfrm>
          <a:prstGeom prst="rect">
            <a:avLst/>
          </a:prstGeom>
          <a:noFill/>
          <a:ln/>
        </p:spPr>
        <p:txBody>
          <a:bodyPr wrap="square" lIns="0" tIns="0" rIns="0" bIns="0" rtlCol="0" anchor="ctr"/>
          <a:lstStyle/>
          <a:p>
            <a:pPr indent="0" marL="0">
              <a:buNone/>
            </a:pPr>
            <a:r>
              <a:rPr lang="en-US" sz="1600" dirty="0">
                <a:solidFill>
                  <a:schemeClr val="accent5"/>
                </a:solidFill>
              </a:rPr>
              <a:t>Nog geen status bijgehouden</a:t>
            </a:r>
            <a:endParaRPr lang="en-US" sz="1600" dirty="0"/>
          </a:p>
        </p:txBody>
      </p:sp>
      <p:sp>
        <p:nvSpPr>
          <p:cNvPr id="26" name="Pijl 81"/>
          <p:cNvSpPr/>
          <p:nvPr/>
        </p:nvSpPr>
        <p:spPr>
          <a:xfrm>
            <a:off x="7260336" y="5006340"/>
            <a:ext cx="384048" cy="365760"/>
          </a:xfrm>
          <a:prstGeom prst="rightArrow">
            <a:avLst/>
          </a:prstGeom>
          <a:solidFill>
            <a:schemeClr val="accent2"/>
          </a:solidFill>
          <a:ln/>
        </p:spPr>
      </p:sp>
      <p:sp>
        <p:nvSpPr>
          <p:cNvPr id="27" name="Kaart 82"/>
          <p:cNvSpPr/>
          <p:nvPr/>
        </p:nvSpPr>
        <p:spPr>
          <a:xfrm>
            <a:off x="7772400" y="4617720"/>
            <a:ext cx="3840480" cy="1143000"/>
          </a:xfrm>
          <a:prstGeom prst="roundRect">
            <a:avLst>
              <a:gd name="adj" fmla="val 9600"/>
            </a:avLst>
          </a:prstGeom>
          <a:solidFill>
            <a:schemeClr val="bg2"/>
          </a:solidFill>
          <a:ln/>
        </p:spPr>
      </p:sp>
      <p:sp>
        <p:nvSpPr>
          <p:cNvPr id="28" name="Tekst 83"/>
          <p:cNvSpPr txBox="1"/>
          <p:nvPr/>
        </p:nvSpPr>
        <p:spPr>
          <a:xfrm>
            <a:off x="8001000" y="4617720"/>
            <a:ext cx="3383280" cy="1143000"/>
          </a:xfrm>
          <a:prstGeom prst="rect">
            <a:avLst/>
          </a:prstGeom>
          <a:noFill/>
          <a:ln/>
        </p:spPr>
        <p:txBody>
          <a:bodyPr wrap="square" lIns="0" tIns="0" rIns="0" bIns="0" rtlCol="0" anchor="ctr"/>
          <a:lstStyle/>
          <a:p>
            <a:pPr indent="0" marL="0">
              <a:buNone/>
            </a:pPr>
            <a:r>
              <a:rPr lang="en-US" sz="1600" b="1" dirty="0">
                <a:solidFill>
                  <a:schemeClr val="tx2"/>
                </a:solidFill>
              </a:rPr>
              <a:t>Onthoudt wat je al af hebt, ook in een volgend gesprek</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6035040" cy="1554480"/>
          </a:xfrm>
          <a:prstGeom prst="rect">
            <a:avLst/>
          </a:prstGeom>
          <a:noFill/>
          <a:ln/>
        </p:spPr>
        <p:txBody>
          <a:bodyPr wrap="square" lIns="0" tIns="0" rIns="0" bIns="0" rtlCol="0" anchor="ctr"/>
          <a:lstStyle/>
          <a:p>
            <a:pPr algn="l" indent="0" marL="0">
              <a:buNone/>
            </a:pPr>
            <a:r>
              <a:rPr lang="en-US" sz="9600" b="1" dirty="0">
                <a:solidFill>
                  <a:schemeClr val="bg1"/>
                </a:solidFill>
              </a:rPr>
              <a:t>Demo</a:t>
            </a:r>
            <a:endParaRPr lang="en-US" sz="9600" dirty="0"/>
          </a:p>
        </p:txBody>
      </p:sp>
      <p:sp>
        <p:nvSpPr>
          <p:cNvPr id="3" name="Cirkel 84"/>
          <p:cNvSpPr/>
          <p:nvPr/>
        </p:nvSpPr>
        <p:spPr>
          <a:xfrm>
            <a:off x="8092440" y="2240280"/>
            <a:ext cx="2377440" cy="2377440"/>
          </a:xfrm>
          <a:prstGeom prst="ellipse">
            <a:avLst/>
          </a:prstGeom>
          <a:solidFill>
            <a:schemeClr val="accent1"/>
          </a:solidFill>
          <a:ln/>
        </p:spPr>
      </p:sp>
      <p:pic>
        <p:nvPicPr>
          <p:cNvPr id="4" name="Icoon 85" descr="preencoded.png">    </p:cNvPr>
          <p:cNvPicPr>
            <a:picLocks noChangeAspect="1"/>
          </p:cNvPicPr>
          <p:nvPr/>
        </p:nvPicPr>
        <p:blipFill>
          <a:blip r:embed="rId1"/>
          <a:stretch>
            <a:fillRect/>
          </a:stretch>
        </p:blipFill>
        <p:spPr>
          <a:xfrm>
            <a:off x="8734349" y="2882189"/>
            <a:ext cx="1093622" cy="10936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Verbeteringen: van hardcoded naar live</a:t>
            </a:r>
            <a:endParaRPr lang="en-US" sz="3600" dirty="0"/>
          </a:p>
        </p:txBody>
      </p:sp>
      <p:sp>
        <p:nvSpPr>
          <p:cNvPr id="3" name="Kaart 86"/>
          <p:cNvSpPr/>
          <p:nvPr/>
        </p:nvSpPr>
        <p:spPr>
          <a:xfrm>
            <a:off x="548640" y="1508760"/>
            <a:ext cx="3474720" cy="3566160"/>
          </a:xfrm>
          <a:prstGeom prst="roundRect">
            <a:avLst>
              <a:gd name="adj" fmla="val 3158"/>
            </a:avLst>
          </a:prstGeom>
          <a:solidFill>
            <a:schemeClr val="bg2"/>
          </a:solidFill>
          <a:ln/>
        </p:spPr>
      </p:sp>
      <p:sp>
        <p:nvSpPr>
          <p:cNvPr id="4" name="Cirkel 87"/>
          <p:cNvSpPr/>
          <p:nvPr/>
        </p:nvSpPr>
        <p:spPr>
          <a:xfrm>
            <a:off x="822960" y="1783080"/>
            <a:ext cx="640080" cy="640080"/>
          </a:xfrm>
          <a:prstGeom prst="ellipse">
            <a:avLst/>
          </a:prstGeom>
          <a:solidFill>
            <a:schemeClr val="accent1"/>
          </a:solidFill>
          <a:ln/>
        </p:spPr>
      </p:sp>
      <p:pic>
        <p:nvPicPr>
          <p:cNvPr id="5" name="Icoon 88" descr="preencoded.png">    </p:cNvPr>
          <p:cNvPicPr>
            <a:picLocks noChangeAspect="1"/>
          </p:cNvPicPr>
          <p:nvPr/>
        </p:nvPicPr>
        <p:blipFill>
          <a:blip r:embed="rId1"/>
          <a:stretch>
            <a:fillRect/>
          </a:stretch>
        </p:blipFill>
        <p:spPr>
          <a:xfrm>
            <a:off x="995782" y="1955902"/>
            <a:ext cx="294437" cy="294437"/>
          </a:xfrm>
          <a:prstGeom prst="rect">
            <a:avLst/>
          </a:prstGeom>
        </p:spPr>
      </p:pic>
      <p:sp>
        <p:nvSpPr>
          <p:cNvPr id="6" name="Tekst 89"/>
          <p:cNvSpPr txBox="1"/>
          <p:nvPr/>
        </p:nvSpPr>
        <p:spPr>
          <a:xfrm>
            <a:off x="1645920" y="1783080"/>
            <a:ext cx="2194560" cy="640080"/>
          </a:xfrm>
          <a:prstGeom prst="rect">
            <a:avLst/>
          </a:prstGeom>
          <a:noFill/>
          <a:ln/>
        </p:spPr>
        <p:txBody>
          <a:bodyPr wrap="square" lIns="0" tIns="0" rIns="0" bIns="0" rtlCol="0" anchor="ctr"/>
          <a:lstStyle/>
          <a:p>
            <a:pPr indent="0" marL="0">
              <a:buNone/>
            </a:pPr>
            <a:r>
              <a:rPr lang="en-US" sz="2200" b="1" dirty="0">
                <a:solidFill>
                  <a:schemeClr val="tx2"/>
                </a:solidFill>
              </a:rPr>
              <a:t>Klassen</a:t>
            </a:r>
            <a:endParaRPr lang="en-US" sz="2200" dirty="0"/>
          </a:p>
        </p:txBody>
      </p:sp>
      <p:sp>
        <p:nvSpPr>
          <p:cNvPr id="7" name="Tekst 90"/>
          <p:cNvSpPr txBox="1"/>
          <p:nvPr/>
        </p:nvSpPr>
        <p:spPr>
          <a:xfrm>
            <a:off x="822960" y="2697480"/>
            <a:ext cx="292608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NU</a:t>
            </a:r>
            <a:endParaRPr lang="en-US" sz="1200" dirty="0"/>
          </a:p>
        </p:txBody>
      </p:sp>
      <p:sp>
        <p:nvSpPr>
          <p:cNvPr id="8" name="Tekst 91"/>
          <p:cNvSpPr txBox="1"/>
          <p:nvPr/>
        </p:nvSpPr>
        <p:spPr>
          <a:xfrm>
            <a:off x="822960" y="2953512"/>
            <a:ext cx="2926080" cy="685800"/>
          </a:xfrm>
          <a:prstGeom prst="rect">
            <a:avLst/>
          </a:prstGeom>
          <a:noFill/>
          <a:ln/>
        </p:spPr>
        <p:txBody>
          <a:bodyPr wrap="square" lIns="0" tIns="0" rIns="0" bIns="0" rtlCol="0" anchor="t"/>
          <a:lstStyle/>
          <a:p>
            <a:pPr indent="0" marL="0">
              <a:buNone/>
            </a:pPr>
            <a:r>
              <a:rPr lang="en-US" sz="1600" dirty="0">
                <a:solidFill>
                  <a:schemeClr val="accent5"/>
                </a:solidFill>
              </a:rPr>
              <a:t>Vaste lijst van klassen in de code</a:t>
            </a:r>
            <a:endParaRPr lang="en-US" sz="1600" dirty="0"/>
          </a:p>
        </p:txBody>
      </p:sp>
      <p:sp>
        <p:nvSpPr>
          <p:cNvPr id="9" name="Tekst 92"/>
          <p:cNvSpPr txBox="1"/>
          <p:nvPr/>
        </p:nvSpPr>
        <p:spPr>
          <a:xfrm>
            <a:off x="822960" y="3794760"/>
            <a:ext cx="29260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STRAKS</a:t>
            </a:r>
            <a:endParaRPr lang="en-US" sz="1200" dirty="0"/>
          </a:p>
        </p:txBody>
      </p:sp>
      <p:sp>
        <p:nvSpPr>
          <p:cNvPr id="10" name="Tekst 93"/>
          <p:cNvSpPr txBox="1"/>
          <p:nvPr/>
        </p:nvSpPr>
        <p:spPr>
          <a:xfrm>
            <a:off x="822960" y="4050792"/>
            <a:ext cx="2926080" cy="822960"/>
          </a:xfrm>
          <a:prstGeom prst="rect">
            <a:avLst/>
          </a:prstGeom>
          <a:noFill/>
          <a:ln/>
        </p:spPr>
        <p:txBody>
          <a:bodyPr wrap="square" lIns="0" tIns="0" rIns="0" bIns="0" rtlCol="0" anchor="t"/>
          <a:lstStyle/>
          <a:p>
            <a:pPr indent="0" marL="0">
              <a:buNone/>
            </a:pPr>
            <a:r>
              <a:rPr lang="en-US" sz="1600" b="1" dirty="0">
                <a:solidFill>
                  <a:schemeClr val="tx2"/>
                </a:solidFill>
              </a:rPr>
              <a:t>Alle klassen live opvragen uit WebUntis</a:t>
            </a:r>
            <a:endParaRPr lang="en-US" sz="1600" dirty="0"/>
          </a:p>
        </p:txBody>
      </p:sp>
      <p:sp>
        <p:nvSpPr>
          <p:cNvPr id="11" name="Kaart 94"/>
          <p:cNvSpPr/>
          <p:nvPr/>
        </p:nvSpPr>
        <p:spPr>
          <a:xfrm>
            <a:off x="4343400" y="1508760"/>
            <a:ext cx="3474720" cy="3566160"/>
          </a:xfrm>
          <a:prstGeom prst="roundRect">
            <a:avLst>
              <a:gd name="adj" fmla="val 3158"/>
            </a:avLst>
          </a:prstGeom>
          <a:solidFill>
            <a:schemeClr val="bg2"/>
          </a:solidFill>
          <a:ln/>
        </p:spPr>
      </p:sp>
      <p:sp>
        <p:nvSpPr>
          <p:cNvPr id="12" name="Cirkel 95"/>
          <p:cNvSpPr/>
          <p:nvPr/>
        </p:nvSpPr>
        <p:spPr>
          <a:xfrm>
            <a:off x="4617720" y="1783080"/>
            <a:ext cx="640080" cy="640080"/>
          </a:xfrm>
          <a:prstGeom prst="ellipse">
            <a:avLst/>
          </a:prstGeom>
          <a:solidFill>
            <a:schemeClr val="accent1"/>
          </a:solidFill>
          <a:ln/>
        </p:spPr>
      </p:sp>
      <p:pic>
        <p:nvPicPr>
          <p:cNvPr id="13" name="Icoon 96" descr="preencoded.png">    </p:cNvPr>
          <p:cNvPicPr>
            <a:picLocks noChangeAspect="1"/>
          </p:cNvPicPr>
          <p:nvPr/>
        </p:nvPicPr>
        <p:blipFill>
          <a:blip r:embed="rId2"/>
          <a:stretch>
            <a:fillRect/>
          </a:stretch>
        </p:blipFill>
        <p:spPr>
          <a:xfrm>
            <a:off x="4790542" y="1955902"/>
            <a:ext cx="294437" cy="294437"/>
          </a:xfrm>
          <a:prstGeom prst="rect">
            <a:avLst/>
          </a:prstGeom>
        </p:spPr>
      </p:pic>
      <p:sp>
        <p:nvSpPr>
          <p:cNvPr id="14" name="Tekst 97"/>
          <p:cNvSpPr txBox="1"/>
          <p:nvPr/>
        </p:nvSpPr>
        <p:spPr>
          <a:xfrm>
            <a:off x="5440680" y="1783080"/>
            <a:ext cx="2194560" cy="640080"/>
          </a:xfrm>
          <a:prstGeom prst="rect">
            <a:avLst/>
          </a:prstGeom>
          <a:noFill/>
          <a:ln/>
        </p:spPr>
        <p:txBody>
          <a:bodyPr wrap="square" lIns="0" tIns="0" rIns="0" bIns="0" rtlCol="0" anchor="ctr"/>
          <a:lstStyle/>
          <a:p>
            <a:pPr indent="0" marL="0">
              <a:buNone/>
            </a:pPr>
            <a:r>
              <a:rPr lang="en-US" sz="2200" b="1" dirty="0">
                <a:solidFill>
                  <a:schemeClr val="tx2"/>
                </a:solidFill>
              </a:rPr>
              <a:t>Inloggen</a:t>
            </a:r>
            <a:endParaRPr lang="en-US" sz="2200" dirty="0"/>
          </a:p>
        </p:txBody>
      </p:sp>
      <p:sp>
        <p:nvSpPr>
          <p:cNvPr id="15" name="Tekst 98"/>
          <p:cNvSpPr txBox="1"/>
          <p:nvPr/>
        </p:nvSpPr>
        <p:spPr>
          <a:xfrm>
            <a:off x="4617720" y="2697480"/>
            <a:ext cx="292608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NU</a:t>
            </a:r>
            <a:endParaRPr lang="en-US" sz="1200" dirty="0"/>
          </a:p>
        </p:txBody>
      </p:sp>
      <p:sp>
        <p:nvSpPr>
          <p:cNvPr id="16" name="Tekst 99"/>
          <p:cNvSpPr txBox="1"/>
          <p:nvPr/>
        </p:nvSpPr>
        <p:spPr>
          <a:xfrm>
            <a:off x="4617720" y="2953512"/>
            <a:ext cx="2926080" cy="685800"/>
          </a:xfrm>
          <a:prstGeom prst="rect">
            <a:avLst/>
          </a:prstGeom>
          <a:noFill/>
          <a:ln/>
        </p:spPr>
        <p:txBody>
          <a:bodyPr wrap="square" lIns="0" tIns="0" rIns="0" bIns="0" rtlCol="0" anchor="t"/>
          <a:lstStyle/>
          <a:p>
            <a:pPr indent="0" marL="0">
              <a:buNone/>
            </a:pPr>
            <a:r>
              <a:rPr lang="en-US" sz="1600" dirty="0">
                <a:solidFill>
                  <a:schemeClr val="accent5"/>
                </a:solidFill>
              </a:rPr>
              <a:t>Toegangssleutel die wij zelf aanmaken</a:t>
            </a:r>
            <a:endParaRPr lang="en-US" sz="1600" dirty="0"/>
          </a:p>
        </p:txBody>
      </p:sp>
      <p:sp>
        <p:nvSpPr>
          <p:cNvPr id="17" name="Tekst 100"/>
          <p:cNvSpPr txBox="1"/>
          <p:nvPr/>
        </p:nvSpPr>
        <p:spPr>
          <a:xfrm>
            <a:off x="4617720" y="3794760"/>
            <a:ext cx="29260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STRAKS</a:t>
            </a:r>
            <a:endParaRPr lang="en-US" sz="1200" dirty="0"/>
          </a:p>
        </p:txBody>
      </p:sp>
      <p:sp>
        <p:nvSpPr>
          <p:cNvPr id="18" name="Tekst 101"/>
          <p:cNvSpPr txBox="1"/>
          <p:nvPr/>
        </p:nvSpPr>
        <p:spPr>
          <a:xfrm>
            <a:off x="4617720" y="4050792"/>
            <a:ext cx="2926080" cy="822960"/>
          </a:xfrm>
          <a:prstGeom prst="rect">
            <a:avLst/>
          </a:prstGeom>
          <a:noFill/>
          <a:ln/>
        </p:spPr>
        <p:txBody>
          <a:bodyPr wrap="square" lIns="0" tIns="0" rIns="0" bIns="0" rtlCol="0" anchor="t"/>
          <a:lstStyle/>
          <a:p>
            <a:pPr indent="0" marL="0">
              <a:buNone/>
            </a:pPr>
            <a:r>
              <a:rPr lang="en-US" sz="1600" b="1" dirty="0">
                <a:solidFill>
                  <a:schemeClr val="tx2"/>
                </a:solidFill>
              </a:rPr>
              <a:t>Inloggen met je eigen Digitap-account</a:t>
            </a:r>
            <a:endParaRPr lang="en-US" sz="1600" dirty="0"/>
          </a:p>
        </p:txBody>
      </p:sp>
      <p:sp>
        <p:nvSpPr>
          <p:cNvPr id="19" name="Kaart 102"/>
          <p:cNvSpPr/>
          <p:nvPr/>
        </p:nvSpPr>
        <p:spPr>
          <a:xfrm>
            <a:off x="8138160" y="1508760"/>
            <a:ext cx="3474720" cy="3566160"/>
          </a:xfrm>
          <a:prstGeom prst="roundRect">
            <a:avLst>
              <a:gd name="adj" fmla="val 3158"/>
            </a:avLst>
          </a:prstGeom>
          <a:solidFill>
            <a:schemeClr val="bg2"/>
          </a:solidFill>
          <a:ln/>
        </p:spPr>
      </p:sp>
      <p:sp>
        <p:nvSpPr>
          <p:cNvPr id="20" name="Cirkel 103"/>
          <p:cNvSpPr/>
          <p:nvPr/>
        </p:nvSpPr>
        <p:spPr>
          <a:xfrm>
            <a:off x="8412480" y="1783080"/>
            <a:ext cx="640080" cy="640080"/>
          </a:xfrm>
          <a:prstGeom prst="ellipse">
            <a:avLst/>
          </a:prstGeom>
          <a:solidFill>
            <a:schemeClr val="accent1"/>
          </a:solidFill>
          <a:ln/>
        </p:spPr>
      </p:sp>
      <p:pic>
        <p:nvPicPr>
          <p:cNvPr id="21" name="Icoon 104" descr="preencoded.png">    </p:cNvPr>
          <p:cNvPicPr>
            <a:picLocks noChangeAspect="1"/>
          </p:cNvPicPr>
          <p:nvPr/>
        </p:nvPicPr>
        <p:blipFill>
          <a:blip r:embed="rId3"/>
          <a:stretch>
            <a:fillRect/>
          </a:stretch>
        </p:blipFill>
        <p:spPr>
          <a:xfrm>
            <a:off x="8585302" y="1955902"/>
            <a:ext cx="294437" cy="294437"/>
          </a:xfrm>
          <a:prstGeom prst="rect">
            <a:avLst/>
          </a:prstGeom>
        </p:spPr>
      </p:pic>
      <p:sp>
        <p:nvSpPr>
          <p:cNvPr id="22" name="Tekst 105"/>
          <p:cNvSpPr txBox="1"/>
          <p:nvPr/>
        </p:nvSpPr>
        <p:spPr>
          <a:xfrm>
            <a:off x="9235440" y="1783080"/>
            <a:ext cx="2194560" cy="640080"/>
          </a:xfrm>
          <a:prstGeom prst="rect">
            <a:avLst/>
          </a:prstGeom>
          <a:noFill/>
          <a:ln/>
        </p:spPr>
        <p:txBody>
          <a:bodyPr wrap="square" lIns="0" tIns="0" rIns="0" bIns="0" rtlCol="0" anchor="ctr"/>
          <a:lstStyle/>
          <a:p>
            <a:pPr indent="0" marL="0">
              <a:buNone/>
            </a:pPr>
            <a:r>
              <a:rPr lang="en-US" sz="2200" b="1" dirty="0">
                <a:solidFill>
                  <a:schemeClr val="tx2"/>
                </a:solidFill>
              </a:rPr>
              <a:t>Kalender</a:t>
            </a:r>
            <a:endParaRPr lang="en-US" sz="2200" dirty="0"/>
          </a:p>
        </p:txBody>
      </p:sp>
      <p:sp>
        <p:nvSpPr>
          <p:cNvPr id="23" name="Tekst 106"/>
          <p:cNvSpPr txBox="1"/>
          <p:nvPr/>
        </p:nvSpPr>
        <p:spPr>
          <a:xfrm>
            <a:off x="8412480" y="2697480"/>
            <a:ext cx="292608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NU</a:t>
            </a:r>
            <a:endParaRPr lang="en-US" sz="1200" dirty="0"/>
          </a:p>
        </p:txBody>
      </p:sp>
      <p:sp>
        <p:nvSpPr>
          <p:cNvPr id="24" name="Tekst 107"/>
          <p:cNvSpPr txBox="1"/>
          <p:nvPr/>
        </p:nvSpPr>
        <p:spPr>
          <a:xfrm>
            <a:off x="8412480" y="2953512"/>
            <a:ext cx="2926080" cy="685800"/>
          </a:xfrm>
          <a:prstGeom prst="rect">
            <a:avLst/>
          </a:prstGeom>
          <a:noFill/>
          <a:ln/>
        </p:spPr>
        <p:txBody>
          <a:bodyPr wrap="square" lIns="0" tIns="0" rIns="0" bIns="0" rtlCol="0" anchor="t"/>
          <a:lstStyle/>
          <a:p>
            <a:pPr indent="0" marL="0">
              <a:buNone/>
            </a:pPr>
            <a:r>
              <a:rPr lang="en-US" sz="1600" dirty="0">
                <a:solidFill>
                  <a:schemeClr val="accent5"/>
                </a:solidFill>
              </a:rPr>
              <a:t>Kalenderlink die vooraf is ingesteld</a:t>
            </a:r>
            <a:endParaRPr lang="en-US" sz="1600" dirty="0"/>
          </a:p>
        </p:txBody>
      </p:sp>
      <p:sp>
        <p:nvSpPr>
          <p:cNvPr id="25" name="Tekst 108"/>
          <p:cNvSpPr txBox="1"/>
          <p:nvPr/>
        </p:nvSpPr>
        <p:spPr>
          <a:xfrm>
            <a:off x="8412480" y="3794760"/>
            <a:ext cx="29260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STRAKS</a:t>
            </a:r>
            <a:endParaRPr lang="en-US" sz="1200" dirty="0"/>
          </a:p>
        </p:txBody>
      </p:sp>
      <p:sp>
        <p:nvSpPr>
          <p:cNvPr id="26" name="Tekst 109"/>
          <p:cNvSpPr txBox="1"/>
          <p:nvPr/>
        </p:nvSpPr>
        <p:spPr>
          <a:xfrm>
            <a:off x="8412480" y="4050792"/>
            <a:ext cx="2926080" cy="822960"/>
          </a:xfrm>
          <a:prstGeom prst="rect">
            <a:avLst/>
          </a:prstGeom>
          <a:noFill/>
          <a:ln/>
        </p:spPr>
        <p:txBody>
          <a:bodyPr wrap="square" lIns="0" tIns="0" rIns="0" bIns="0" rtlCol="0" anchor="t"/>
          <a:lstStyle/>
          <a:p>
            <a:pPr indent="0" marL="0">
              <a:buNone/>
            </a:pPr>
            <a:r>
              <a:rPr lang="en-US" sz="1600" b="1" dirty="0">
                <a:solidFill>
                  <a:schemeClr val="tx2"/>
                </a:solidFill>
              </a:rPr>
              <a:t>Live kalender van de student zelf</a:t>
            </a:r>
            <a:endParaRPr lang="en-US" sz="1600" dirty="0"/>
          </a:p>
        </p:txBody>
      </p:sp>
      <p:sp>
        <p:nvSpPr>
          <p:cNvPr id="27" name="Kaart 110"/>
          <p:cNvSpPr/>
          <p:nvPr/>
        </p:nvSpPr>
        <p:spPr>
          <a:xfrm>
            <a:off x="548640" y="5303520"/>
            <a:ext cx="11064240" cy="685800"/>
          </a:xfrm>
          <a:prstGeom prst="roundRect">
            <a:avLst>
              <a:gd name="adj" fmla="val 16000"/>
            </a:avLst>
          </a:prstGeom>
          <a:solidFill>
            <a:schemeClr val="tx2"/>
          </a:solidFill>
          <a:ln/>
        </p:spPr>
      </p:sp>
      <p:sp>
        <p:nvSpPr>
          <p:cNvPr id="28" name="Tekst 111"/>
          <p:cNvSpPr txBox="1"/>
          <p:nvPr/>
        </p:nvSpPr>
        <p:spPr>
          <a:xfrm>
            <a:off x="868680" y="5303520"/>
            <a:ext cx="10424160" cy="685800"/>
          </a:xfrm>
          <a:prstGeom prst="rect">
            <a:avLst/>
          </a:prstGeom>
          <a:noFill/>
          <a:ln/>
        </p:spPr>
        <p:txBody>
          <a:bodyPr wrap="square" lIns="0" tIns="0" rIns="0" bIns="0" rtlCol="0" anchor="ctr"/>
          <a:lstStyle/>
          <a:p>
            <a:pPr indent="0" marL="0">
              <a:buNone/>
            </a:pPr>
            <a:r>
              <a:rPr lang="en-US" sz="1600" dirty="0">
                <a:solidFill>
                  <a:schemeClr val="bg1"/>
                </a:solidFill>
              </a:rPr>
              <a:t>Doel: de assistent werkt voor elke student, zonder dat wij vooraf iets moeten instellen.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1554480"/>
          </a:xfrm>
          <a:prstGeom prst="rect">
            <a:avLst/>
          </a:prstGeom>
          <a:noFill/>
          <a:ln/>
        </p:spPr>
        <p:txBody>
          <a:bodyPr wrap="square" lIns="0" tIns="0" rIns="0" bIns="0" rtlCol="0" anchor="t"/>
          <a:lstStyle/>
          <a:p>
            <a:pPr algn="l" indent="0" marL="0">
              <a:buNone/>
            </a:pPr>
            <a:r>
              <a:rPr lang="en-US" sz="4000" b="1" dirty="0">
                <a:solidFill>
                  <a:schemeClr val="bg1"/>
                </a:solidFill>
              </a:rPr>
              <a:t>Context maakt van een chatbot een persoonlijke assistent</a:t>
            </a:r>
            <a:endParaRPr lang="en-US" sz="4000" dirty="0"/>
          </a:p>
        </p:txBody>
      </p:sp>
      <p:sp>
        <p:nvSpPr>
          <p:cNvPr id="3" name="Text 0"/>
          <p:cNvSpPr/>
          <p:nvPr>
            <p:ph idx="101" type="body" hasCustomPrompt="1"/>
          </p:nvPr>
        </p:nvSpPr>
        <p:spPr>
          <a:xfrm>
            <a:off x="731520" y="2971800"/>
            <a:ext cx="9144000" cy="1005840"/>
          </a:xfrm>
          <a:prstGeom prst="rect">
            <a:avLst/>
          </a:prstGeom>
          <a:noFill/>
          <a:ln/>
        </p:spPr>
        <p:txBody>
          <a:bodyPr wrap="square" lIns="0" tIns="0" rIns="0" bIns="0" rtlCol="0" anchor="t"/>
          <a:lstStyle/>
          <a:p>
            <a:pPr algn="l" indent="0" marL="0">
              <a:buNone/>
            </a:pPr>
            <a:r>
              <a:rPr lang="en-US" sz="2200" dirty="0">
                <a:solidFill>
                  <a:schemeClr val="bg2"/>
                </a:solidFill>
              </a:rPr>
              <a:t>Dankzij MCP bouwden we de tools één keer, en kan eender welke LLM ze gebruiken.</a:t>
            </a:r>
            <a:endParaRPr lang="en-US" sz="2200" dirty="0"/>
          </a:p>
        </p:txBody>
      </p:sp>
      <p:sp>
        <p:nvSpPr>
          <p:cNvPr id="4" name="Tekst 112"/>
          <p:cNvSpPr txBox="1"/>
          <p:nvPr/>
        </p:nvSpPr>
        <p:spPr>
          <a:xfrm>
            <a:off x="731520" y="4663440"/>
            <a:ext cx="5486400" cy="640080"/>
          </a:xfrm>
          <a:prstGeom prst="rect">
            <a:avLst/>
          </a:prstGeom>
          <a:noFill/>
          <a:ln/>
        </p:spPr>
        <p:txBody>
          <a:bodyPr wrap="square" lIns="0" tIns="0" rIns="0" bIns="0" rtlCol="0" anchor="ctr"/>
          <a:lstStyle/>
          <a:p>
            <a:pPr indent="0" marL="0">
              <a:buNone/>
            </a:pPr>
            <a:r>
              <a:rPr lang="en-US" sz="3200" b="1" dirty="0">
                <a:solidFill>
                  <a:schemeClr val="accent2"/>
                </a:solidFill>
              </a:rPr>
              <a:t>Vragen?</a:t>
            </a:r>
            <a:endParaRPr lang="en-US" sz="3200" dirty="0"/>
          </a:p>
        </p:txBody>
      </p:sp>
    </p:spTree>
  </p:cSld>
  <p:clrMapOvr>
    <a:masterClrMapping/>
  </p:clrMapOvr>
</p:sld>
</file>

<file path=ppt/theme/theme1.xml><?xml version="1.0" encoding="utf-8"?>
<a:theme xmlns:a="http://schemas.openxmlformats.org/drawingml/2006/main" name="Context is King">
  <a:themeElements>
    <a:clrScheme name="Context is King">
      <a:dk1>
        <a:srgbClr val="17212B"/>
      </a:dk1>
      <a:lt1>
        <a:srgbClr val="FFFFFF"/>
      </a:lt1>
      <a:dk2>
        <a:srgbClr val="14406B"/>
      </a:dk2>
      <a:lt2>
        <a:srgbClr val="EAF4FB"/>
      </a:lt2>
      <a:accent1>
        <a:srgbClr val="0E83C9"/>
      </a:accent1>
      <a:accent2>
        <a:srgbClr val="7CCBF5"/>
      </a:accent2>
      <a:accent3>
        <a:srgbClr val="E08A00"/>
      </a:accent3>
      <a:accent4>
        <a:srgbClr val="2E7D32"/>
      </a:accent4>
      <a:accent5>
        <a:srgbClr val="5F7386"/>
      </a:accent5>
      <a:accent6>
        <a:srgbClr val="C0392B"/>
      </a:accent6>
      <a:hlink>
        <a:srgbClr val="0E83C9"/>
      </a:hlink>
      <a:folHlink>
        <a:srgbClr val="14406B"/>
      </a:folHlink>
    </a:clrScheme>
    <a:fontScheme name="Context is K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is King – schoolassistent als MCP-server</dc:title>
  <dc:subject>Trends in AI, labo 3 – Optie B (prototype)</dc:subject>
  <dc:creator>PptxGenJS</dc:creator>
  <cp:lastModifiedBy>PptxGenJS</cp:lastModifiedBy>
  <cp:revision>1</cp:revision>
  <dcterms:created xsi:type="dcterms:W3CDTF">2026-10-10T10:24:58Z</dcterms:created>
  <dcterms:modified xsi:type="dcterms:W3CDTF">2026-10-10T10:24:58Z</dcterms:modified>
</cp:coreProperties>
</file>